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</p:sldIdLst>
  <p:sldSz cx="12192000" cy="6858000"/>
  <p:notesSz cx="6858000" cy="9144000"/>
  <p:embeddedFontLst>
    <p:embeddedFont>
      <p:font typeface="Consolas" panose="020B0609020204030204" pitchFamily="49" charset="0"/>
      <p:regular r:id="rId137"/>
      <p:bold r:id="rId138"/>
      <p:italic r:id="rId139"/>
      <p:boldItalic r:id="rId140"/>
    </p:embeddedFont>
    <p:embeddedFont>
      <p:font typeface="Play" panose="020B0604020202020204" charset="0"/>
      <p:regular r:id="rId141"/>
      <p:bold r:id="rId1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3" roundtripDataSignature="AMtx7mgMP7MZQVodLSTAe+k1hklqnjQY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4F30DF-796E-4B71-B604-BF9DE2107E0F}">
  <a:tblStyle styleId="{0F4F30DF-796E-4B71-B604-BF9DE2107E0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B10B339-6396-4F68-8CE8-AFA409E144A8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5BB7DE-8AC6-4827-B6FF-C3AD4FF48981}" styleName="Table_2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5F86503-6E0D-4DD9-AA6D-76ADF8D03297}" styleName="Table_3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D133F2-2C71-4767-A39D-88F58E4C8B90}" styleName="Table_4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112AE43-046C-4584-B4E7-371E06D664D8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2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font" Target="fonts/font3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font" Target="fonts/font4.fntdata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5.fntdata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6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" name="Google Shape;1295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9" name="Google Shape;1449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7" name="Google Shape;1467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6" name="Google Shape;1536;p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8" name="Google Shape;1548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bild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innehåll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vsnittsrubrik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vå innehållsdelar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ämförelse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ast rubrik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nehåll med bildtext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ed bildtext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lodrät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drät rubrik och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cloud.databricks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zara2099/medical-internal-attack-detection-dataset?resource=download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lack.com/apps" TargetMode="External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0F4861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40000">
                <a:srgbClr val="156082">
                  <a:alpha val="0"/>
                </a:srgbClr>
              </a:gs>
              <a:gs pos="100000">
                <a:srgbClr val="0F4861">
                  <a:alpha val="52156"/>
                </a:srgbClr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7000">
                <a:srgbClr val="156082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100000">
                <a:srgbClr val="000000">
                  <a:alpha val="25098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 rot="-9091028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156082">
                  <a:alpha val="21960"/>
                </a:srgbClr>
              </a:gs>
              <a:gs pos="87000">
                <a:srgbClr val="43AFE2">
                  <a:alpha val="1960"/>
                </a:srgbClr>
              </a:gs>
              <a:gs pos="100000">
                <a:srgbClr val="43AFE2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sv-SE" sz="4800">
                <a:solidFill>
                  <a:srgbClr val="FFFFFF"/>
                </a:solidFill>
              </a:rPr>
              <a:t>Insider Threat Detection</a:t>
            </a:r>
            <a:endParaRPr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v-SE"/>
              <a:t>Arseniy Buzyan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100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 rot="-54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 rot="-54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176"/>
                </a:srgbClr>
              </a:gs>
              <a:gs pos="95000">
                <a:srgbClr val="A02B93">
                  <a:alpha val="0"/>
                </a:srgbClr>
              </a:gs>
              <a:gs pos="100000">
                <a:srgbClr val="A02B93">
                  <a:alpha val="0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</a:rPr>
              <a:t>Steg-för-steg-plan: Insider Threat Detection</a:t>
            </a:r>
            <a:endParaRPr/>
          </a:p>
        </p:txBody>
      </p:sp>
      <p:pic>
        <p:nvPicPr>
          <p:cNvPr id="101" name="Google Shape;101;p2" descr="Bärbar dator säk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5217" y="1855164"/>
            <a:ext cx="3147413" cy="3147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 descr="En bild som visar text, skärmbild, Teckensnitt, nummer&#10;&#10;AI-genererat innehåll kan vara felaktig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86677" y="-1049"/>
            <a:ext cx="1968479" cy="68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-2" y="0"/>
            <a:ext cx="12192001" cy="169641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04800" dist="114300" dir="5460000" sx="92000" sy="92000" algn="t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9" name="Google Shape;109;p3"/>
          <p:cNvGraphicFramePr/>
          <p:nvPr/>
        </p:nvGraphicFramePr>
        <p:xfrm>
          <a:off x="14133" y="29728"/>
          <a:ext cx="12185925" cy="704088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1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6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du gör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Kommandon / Instruktioner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Kurskoppling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Snowflake trial-konto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webbplats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Enterprise Edition (gratis 30 dagar). Välj moln-region nära dig. Verifiera e-post.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Datainfrastruktur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Databricks Community Edition-konto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webbplats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Registrera dig gratis. Ingen betalkort krävs. Färdigt på 3 minuter.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Plattform för ML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ned Medical Internal Attack Detection Dataset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dator (eller Databricks notebook)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Medical Internal Attack Detection Dataset från Kaggle.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Förbereda data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upp data till Snowflake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Databricks: pip install snowflake-connector-python. Skriv Python-kod för att läsa CSV och ladda till Snowflake-tabell.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warehouse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dbt-projekt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Job (dbt task)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Jobs → Add task → Type: dbt. Välj Git-repo eller Workspace.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Transformationsverktyg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dbt-modeller för feature engineering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dbt-projektet (i Git eller Workspace)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3A42"/>
                        </a:buClr>
                        <a:buSzPts val="1000"/>
                        <a:buFont typeface="Consolas"/>
                        <a:buNone/>
                      </a:pPr>
                      <a:r>
                        <a:rPr lang="sv-SE" sz="10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000" b="0" i="0" u="none" strike="noStrike" cap="none">
                          <a:solidFill>
                            <a:srgbClr val="A626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`models/sources.yml`</a:t>
                      </a:r>
                      <a: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0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Definierar var rådatan finns i Snowflake </a:t>
                      </a:r>
                      <a:r>
                        <a:rPr lang="sv-SE" sz="10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b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sv-SE" sz="10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000" b="0" i="0" u="none" strike="noStrike" cap="none">
                          <a:solidFill>
                            <a:srgbClr val="A626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`models/staging/stg_raw_logs.sql`</a:t>
                      </a:r>
                      <a: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0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Rensar och standardiserar rådatan 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5"/>
                        </a:buClr>
                        <a:buSzPts val="1000"/>
                        <a:buFont typeface="Consolas"/>
                        <a:buNone/>
                      </a:pPr>
                      <a: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(EN staging-modell) </a:t>
                      </a:r>
                      <a:r>
                        <a:rPr lang="sv-SE" sz="10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b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sv-SE" sz="10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000" b="0" i="0" u="none" strike="noStrike" cap="none">
                          <a:solidFill>
                            <a:srgbClr val="A626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`models/fct_features.sql`</a:t>
                      </a:r>
                      <a: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sv-SE" sz="10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r>
                        <a:rPr lang="sv-SE" sz="1000" b="0" i="0" u="none" strike="noStrike" cap="none">
                          <a:solidFill>
                            <a:srgbClr val="0F11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Skapar färdiga features för ML (ingen JOIN – säker) </a:t>
                      </a:r>
                      <a:r>
                        <a:rPr lang="sv-SE" sz="1000" b="0" i="0" u="none" strike="noStrike" cap="none">
                          <a:solidFill>
                            <a:srgbClr val="383A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|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Förbereda för ML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 dbt-transformationer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Cloud IDE (Commands)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dbt run – skapar tabeller/views i Snowflake.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Automatisering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Anslut Databricks till Snowflake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Installera snowflake-connector-python. Skapa anslutning med account, user, password, warehouse, database, schema. Läs in FCT_FEATURES.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Dataförberedelse för ML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Importera MLflow i Databricks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 mlflow och from mlflow.tracking import MlflowClient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MLOps - experiment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 Isolation eller Random Forest-modell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from sklearn.ensemble import IsolationForest</a:t>
                      </a:r>
                      <a:b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= IsolationForest(contamination=0.1)</a:t>
                      </a:r>
                      <a:b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model.fit(df_features) eller </a:t>
                      </a:r>
                      <a:r>
                        <a:rPr lang="sv-SE" sz="1400" b="0" i="0" u="none" strike="noStrike" cap="none">
                          <a:solidFill>
                            <a:srgbClr val="262626"/>
                          </a:solidFill>
                        </a:rPr>
                        <a:t>Random Forest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 för mönsterdetektering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90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experiment med MLflow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mlflow.set_experiment("/Users/din_email/insider_threat")</a:t>
                      </a:r>
                      <a:b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 mlflow.start_run():</a:t>
                      </a:r>
                      <a:b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mlflow.log_param("contamination", 0.1)</a:t>
                      </a:r>
                      <a:b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mlflow.log_metric("anomalies", n_anomalies)</a:t>
                      </a:r>
                      <a:b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mlflow.sklearn.log_model(model, "model")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MLOps - spårning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Databricks Job för automatisering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Jobs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nytt Job. Lägg till notebook med ML-modellen. Sätt schema (t.ex. dagligen).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för detektering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 enkel dashboard i Databricks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SQL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SQL-fråga: SELECT user_id, COUNT(*) as anomalies FROM predictions WHERE is_anomaly = true GROUP BY user_id</a:t>
                      </a:r>
                      <a:endParaRPr sz="1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Övervaka system</a:t>
                      </a:r>
                      <a:endParaRPr/>
                    </a:p>
                  </a:txBody>
                  <a:tcPr marL="9145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lang="sv-SE" sz="3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Bakgrund: Varför denna arkitektur (dbt → Snowflake → Databricks)?</a:t>
            </a:r>
            <a:endParaRPr/>
          </a:p>
        </p:txBody>
      </p:sp>
      <p:pic>
        <p:nvPicPr>
          <p:cNvPr id="120" name="Google Shape;120;p4" descr="En bild som visar text, skärmbild, Teckensnitt, linje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657301" y="2259"/>
            <a:ext cx="2877256" cy="685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Varför inte bara ladda CSV direkt i Databricks?</a:t>
            </a:r>
            <a:endParaRPr/>
          </a:p>
        </p:txBody>
      </p:sp>
      <p:graphicFrame>
        <p:nvGraphicFramePr>
          <p:cNvPr id="131" name="Google Shape;131;p5"/>
          <p:cNvGraphicFramePr/>
          <p:nvPr/>
        </p:nvGraphicFramePr>
        <p:xfrm>
          <a:off x="4158711" y="1446508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{0F4F30DF-796E-4B71-B604-BF9DE2107E0F}</a:tableStyleId>
              </a:tblPr>
              <a:tblGrid>
                <a:gridCol w="38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175900" marR="225525" marT="135325" marB="13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175900" marR="225525" marT="135325" marB="13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6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man ladda CSV direkt i Databricks?</a:t>
                      </a:r>
                      <a:endParaRPr sz="21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00" marR="225525" marT="135325" marB="13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Ja, det går!</a:t>
                      </a:r>
                      <a:endParaRPr/>
                    </a:p>
                  </a:txBody>
                  <a:tcPr marL="175900" marR="135325" marT="135325" marB="135325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6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gör man inte det i produktion?</a:t>
                      </a:r>
                      <a:endParaRPr sz="21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00" marR="225525" marT="135325" marB="13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För att CSV är opålitligt för stora mängder data</a:t>
                      </a:r>
                      <a:endParaRPr/>
                    </a:p>
                  </a:txBody>
                  <a:tcPr marL="175900" marR="135325" marT="135325" marB="13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Enkelt exempel från verkligheten:</a:t>
            </a:r>
            <a:endParaRPr/>
          </a:p>
        </p:txBody>
      </p:sp>
      <p:graphicFrame>
        <p:nvGraphicFramePr>
          <p:cNvPr id="141" name="Google Shape;141;p6"/>
          <p:cNvGraphicFramePr/>
          <p:nvPr/>
        </p:nvGraphicFramePr>
        <p:xfrm>
          <a:off x="297050" y="179522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95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Scenario</a:t>
                      </a:r>
                      <a:endParaRPr/>
                    </a:p>
                  </a:txBody>
                  <a:tcPr marL="0" marR="237275" marT="28475" marB="1423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CSV direkt</a:t>
                      </a:r>
                      <a:endParaRPr/>
                    </a:p>
                  </a:txBody>
                  <a:tcPr marL="0" marR="237275" marT="28475" marB="1423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+ dbt</a:t>
                      </a:r>
                      <a:endParaRPr/>
                    </a:p>
                  </a:txBody>
                  <a:tcPr marL="0" marR="237275" marT="28475" marB="1423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får ny data varje dag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ladda upp CSV manuellt varje dag</a:t>
                      </a:r>
                      <a:endParaRPr/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uppdateras automatiskt</a:t>
                      </a:r>
                      <a:endParaRPr/>
                    </a:p>
                  </a:txBody>
                  <a:tcPr marL="0" marR="1423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Flera personer jobbar med samma data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har sin egen kopia (olika versioner)</a:t>
                      </a:r>
                      <a:endParaRPr/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ser SAMMA data</a:t>
                      </a:r>
                      <a:endParaRPr/>
                    </a:p>
                  </a:txBody>
                  <a:tcPr marL="0" marR="1423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är 100 GB (inte 308 KB)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kraschar eller blir extremt långsam</a:t>
                      </a:r>
                      <a:endParaRPr/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hanterar TB utan problem</a:t>
                      </a:r>
                      <a:endParaRPr/>
                    </a:p>
                  </a:txBody>
                  <a:tcPr marL="0" marR="1423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behöver rensa datan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skriver ny kod varje gång</a:t>
                      </a:r>
                      <a:endParaRPr/>
                    </a:p>
                  </a:txBody>
                  <a:tcPr marL="0" marR="2372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återanvänder samma SQL-modeller</a:t>
                      </a:r>
                      <a:endParaRPr/>
                    </a:p>
                  </a:txBody>
                  <a:tcPr marL="0" marR="142375" marT="42700" marB="142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170188" y="209292"/>
            <a:ext cx="7774059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Databricks vs Jupyter vs Google Colab</a:t>
            </a:r>
            <a:endParaRPr/>
          </a:p>
        </p:txBody>
      </p:sp>
      <p:graphicFrame>
        <p:nvGraphicFramePr>
          <p:cNvPr id="151" name="Google Shape;151;p7"/>
          <p:cNvGraphicFramePr/>
          <p:nvPr/>
        </p:nvGraphicFramePr>
        <p:xfrm>
          <a:off x="167898" y="174355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52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Funktion</a:t>
                      </a:r>
                      <a:endParaRPr/>
                    </a:p>
                  </a:txBody>
                  <a:tcPr marL="0" marR="98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 (produktion)</a:t>
                      </a:r>
                      <a:endParaRPr/>
                    </a:p>
                  </a:txBody>
                  <a:tcPr marL="0" marR="98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Jupyter (lokal)</a:t>
                      </a:r>
                      <a:endParaRPr/>
                    </a:p>
                  </a:txBody>
                  <a:tcPr marL="0" marR="98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 Colab (gratis moln)</a:t>
                      </a:r>
                      <a:endParaRPr/>
                    </a:p>
                  </a:txBody>
                  <a:tcPr marL="0" marR="98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Skalbarhet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Hanterar TB data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Bara din dators RAM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Begränsad RAM/CPU</a:t>
                      </a:r>
                      <a:endParaRPr/>
                    </a:p>
                  </a:txBody>
                  <a:tcPr marL="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Samarbete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Flera personer samtidigt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Dela filer manuellt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Dela notebooks, men inte data</a:t>
                      </a:r>
                      <a:endParaRPr/>
                    </a:p>
                  </a:txBody>
                  <a:tcPr marL="4940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Schemaläggning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Automatiska jobb (cron)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/>
                    </a:p>
                  </a:txBody>
                  <a:tcPr marL="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Inbyggd MLflow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 (gratis)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Kräver installation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Kräver installation</a:t>
                      </a:r>
                      <a:endParaRPr/>
                    </a:p>
                  </a:txBody>
                  <a:tcPr marL="4940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Spark (stordata)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Inbyggt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Kräver installation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Kräver installation</a:t>
                      </a:r>
                      <a:endParaRPr/>
                    </a:p>
                  </a:txBody>
                  <a:tcPr marL="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Kostnad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Community Edition gratis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Gratis</a:t>
                      </a:r>
                      <a:endParaRPr/>
                    </a:p>
                  </a:txBody>
                  <a:tcPr marL="4940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Gratis</a:t>
                      </a:r>
                      <a:endParaRPr/>
                    </a:p>
                  </a:txBody>
                  <a:tcPr marL="4940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Används i företag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Airbnb, Spotify, etc.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För prototyping</a:t>
                      </a:r>
                      <a:endParaRPr/>
                    </a:p>
                  </a:txBody>
                  <a:tcPr marL="0" marR="164650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Sällan</a:t>
                      </a:r>
                      <a:endParaRPr/>
                    </a:p>
                  </a:txBody>
                  <a:tcPr marL="0" marR="98775" marT="102900" marB="1029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0" y="8313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00"/>
              <a:buFont typeface="Play"/>
              <a:buNone/>
            </a:pPr>
            <a:r>
              <a:rPr lang="sv-SE" sz="7400"/>
              <a:t>Verkligt exempel:</a:t>
            </a:r>
            <a:endParaRPr sz="7400"/>
          </a:p>
        </p:txBody>
      </p:sp>
      <p:cxnSp>
        <p:nvCxnSpPr>
          <p:cNvPr id="158" name="Google Shape;158;p8"/>
          <p:cNvCxnSpPr/>
          <p:nvPr/>
        </p:nvCxnSpPr>
        <p:spPr>
          <a:xfrm>
            <a:off x="4728053" y="1132114"/>
            <a:ext cx="0" cy="5717573"/>
          </a:xfrm>
          <a:prstGeom prst="straightConnector1">
            <a:avLst/>
          </a:prstGeom>
          <a:noFill/>
          <a:ln w="25400" cap="sq" cmpd="sng">
            <a:solidFill>
              <a:schemeClr val="accent1"/>
            </a:solidFill>
            <a:prstDash val="solid"/>
            <a:bevel/>
            <a:headEnd type="none" w="sm" len="sm"/>
            <a:tailEnd type="none" w="sm" len="sm"/>
          </a:ln>
        </p:spPr>
      </p:cxnSp>
      <p:grpSp>
        <p:nvGrpSpPr>
          <p:cNvPr id="159" name="Google Shape;159;p8"/>
          <p:cNvGrpSpPr/>
          <p:nvPr/>
        </p:nvGrpSpPr>
        <p:grpSpPr>
          <a:xfrm>
            <a:off x="5108535" y="1071482"/>
            <a:ext cx="6245265" cy="5587982"/>
            <a:chOff x="0" y="682"/>
            <a:chExt cx="6245265" cy="5587982"/>
          </a:xfrm>
        </p:grpSpPr>
        <p:sp>
          <p:nvSpPr>
            <p:cNvPr id="160" name="Google Shape;160;p8"/>
            <p:cNvSpPr/>
            <p:nvPr/>
          </p:nvSpPr>
          <p:spPr>
            <a:xfrm>
              <a:off x="0" y="682"/>
              <a:ext cx="6245265" cy="1596566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482961" y="359909"/>
              <a:ext cx="878111" cy="87811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1844034" y="682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 txBox="1"/>
            <p:nvPr/>
          </p:nvSpPr>
          <p:spPr>
            <a:xfrm>
              <a:off x="1844034" y="682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8950" tIns="168950" rIns="168950" bIns="168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sv-SE" sz="2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Spotify</a:t>
              </a:r>
              <a:r>
                <a:rPr lang="sv-SE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använder Databricks för att analysera miljarder musikstreams.</a:t>
              </a: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0" y="1996390"/>
              <a:ext cx="6245265" cy="1596566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482961" y="2355617"/>
              <a:ext cx="878111" cy="87811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1844034" y="1996390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8"/>
            <p:cNvSpPr txBox="1"/>
            <p:nvPr/>
          </p:nvSpPr>
          <p:spPr>
            <a:xfrm>
              <a:off x="1844034" y="1996390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8950" tIns="168950" rIns="168950" bIns="168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sv-SE" sz="2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Jupyter</a:t>
              </a:r>
              <a:r>
                <a:rPr lang="sv-SE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används av en dataforskare hemma på sin laptop.</a:t>
              </a: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0" y="3992098"/>
              <a:ext cx="6245265" cy="1596566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482961" y="4351325"/>
              <a:ext cx="878111" cy="87811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1844034" y="3992098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 txBox="1"/>
            <p:nvPr/>
          </p:nvSpPr>
          <p:spPr>
            <a:xfrm>
              <a:off x="1844034" y="3992098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8950" tIns="168950" rIns="168950" bIns="168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sv-SE" sz="2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Google Colab</a:t>
              </a:r>
              <a:r>
                <a:rPr lang="sv-SE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används för utbildning och snabba experiment.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Varför produktion använder dbt + Snowflake + Databricks</a:t>
            </a:r>
            <a:endParaRPr/>
          </a:p>
        </p:txBody>
      </p:sp>
      <p:pic>
        <p:nvPicPr>
          <p:cNvPr id="181" name="Google Shape;181;p9" descr="En bild som visar text, Teckensnitt, linje, skärmbild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20" y="1840457"/>
            <a:ext cx="12179956" cy="99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9"/>
          <p:cNvGraphicFramePr/>
          <p:nvPr/>
        </p:nvGraphicFramePr>
        <p:xfrm>
          <a:off x="0" y="343039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209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Lager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Verktyg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Varför?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Verkligt exempel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 Warehouse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All företagsdata på en plats, säker, skalbar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Alla kunders köp från alla butiker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Transformering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dbt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Samma rensningslogik återanvänds av alla team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"misslyckade inloggningar" räknas likadant överallt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ML-plattform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Hanterar stora datamängder, automatiserar jobb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Tränar en ny modell varje natt med nya data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>
            <a:spLocks noGrp="1"/>
          </p:cNvSpPr>
          <p:nvPr>
            <p:ph type="title"/>
          </p:nvPr>
        </p:nvSpPr>
        <p:spPr>
          <a:xfrm>
            <a:off x="282592" y="741391"/>
            <a:ext cx="4411549" cy="161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sv-SE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Sammanfattning med en pizzabakelse:</a:t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282592" y="2533476"/>
            <a:ext cx="4411549" cy="397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sv-S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Varför inte bara lägga allt i ugnen direkt?</a:t>
            </a:r>
            <a:r>
              <a:rPr lang="sv-SE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För att du vill ha receptet (dbt) så att du kan baka samma pizza varje dag, och kylskåpet (Snowflake) så att ingredienserna inte blir förstörda.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sv-S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Varför Databricks istället för Jupyter?</a:t>
            </a:r>
            <a:r>
              <a:rPr lang="sv-SE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För att i produktion bakar du pizzor till 10 000 kunder samtidigt – din laptop orkar inte. Databricks är som en fabriksugn som gör allt automatiskt varje natt.</a:t>
            </a:r>
            <a:endParaRPr/>
          </a:p>
        </p:txBody>
      </p:sp>
      <p:grpSp>
        <p:nvGrpSpPr>
          <p:cNvPr id="189" name="Google Shape;189;p10"/>
          <p:cNvGrpSpPr/>
          <p:nvPr/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90" name="Google Shape;190;p10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0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1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92" name="Google Shape;192;p10"/>
          <p:cNvGraphicFramePr/>
          <p:nvPr/>
        </p:nvGraphicFramePr>
        <p:xfrm>
          <a:off x="4778644" y="839491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60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100975" marR="240425" marT="28850" marB="2164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Verktyg</a:t>
                      </a:r>
                      <a:endParaRPr sz="1200"/>
                    </a:p>
                  </a:txBody>
                  <a:tcPr marL="100975" marR="240425" marT="28850" marB="2164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Liknelse</a:t>
                      </a:r>
                      <a:endParaRPr/>
                    </a:p>
                  </a:txBody>
                  <a:tcPr marL="100975" marR="240425" marT="28850" marB="2164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975" marR="240425" marT="28850" marB="216400" anchor="ctr">
                    <a:lnL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CSV (rådata)</a:t>
                      </a:r>
                      <a:endParaRPr/>
                    </a:p>
                  </a:txBody>
                  <a:tcPr marL="100975" marR="240425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Råa ingredienser (mjöl, tomater, ost)</a:t>
                      </a:r>
                      <a:endParaRPr/>
                    </a:p>
                  </a:txBody>
                  <a:tcPr marL="100975" marR="144250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975" marR="240425" marT="28850" marB="216400" anchor="ctr">
                    <a:lnL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</a:t>
                      </a:r>
                      <a:endParaRPr/>
                    </a:p>
                  </a:txBody>
                  <a:tcPr marL="100975" marR="240425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Kylskåpet – förvarar allt säkert</a:t>
                      </a:r>
                      <a:endParaRPr/>
                    </a:p>
                  </a:txBody>
                  <a:tcPr marL="100975" marR="144250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975" marR="240425" marT="28850" marB="216400" anchor="ctr">
                    <a:lnL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</a:t>
                      </a:r>
                      <a:endParaRPr/>
                    </a:p>
                  </a:txBody>
                  <a:tcPr marL="100975" marR="240425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Receptet – säger exakt hur man gör</a:t>
                      </a:r>
                      <a:endParaRPr/>
                    </a:p>
                  </a:txBody>
                  <a:tcPr marL="100975" marR="144250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975" marR="240425" marT="28850" marB="216400" anchor="ctr">
                    <a:lnL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</a:t>
                      </a:r>
                      <a:endParaRPr/>
                    </a:p>
                  </a:txBody>
                  <a:tcPr marL="100975" marR="240425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Ugnen – bakar pizzan (bygger ML-modellen)</a:t>
                      </a:r>
                      <a:endParaRPr/>
                    </a:p>
                  </a:txBody>
                  <a:tcPr marL="100975" marR="144250" marT="28850" marB="216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Verktyg du behöver (alla gratis)</a:t>
            </a:r>
            <a:endParaRPr sz="4000">
              <a:solidFill>
                <a:srgbClr val="FFFFFF"/>
              </a:solidFill>
            </a:endParaRPr>
          </a:p>
        </p:txBody>
      </p:sp>
      <p:graphicFrame>
        <p:nvGraphicFramePr>
          <p:cNvPr id="202" name="Google Shape;202;p11"/>
          <p:cNvGraphicFramePr/>
          <p:nvPr/>
        </p:nvGraphicFramePr>
        <p:xfrm>
          <a:off x="644056" y="21561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31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Verktyg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Syfte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Kostnad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4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Lagring av rådata och features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30-dagars trial (Enterprise Edition) </a:t>
                      </a:r>
                      <a:endParaRPr/>
                    </a:p>
                  </a:txBody>
                  <a:tcPr marL="190025" marR="114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Community Edition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Notebooks, ML, Jobs, MLflow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Permanent gratis (begränsad men räcker) </a:t>
                      </a:r>
                      <a:endParaRPr/>
                    </a:p>
                  </a:txBody>
                  <a:tcPr marL="190025" marR="114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dbt Core (via Databricks)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Transformationer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Gratis, körs i Databricks </a:t>
                      </a:r>
                      <a:endParaRPr/>
                    </a:p>
                  </a:txBody>
                  <a:tcPr marL="190025" marR="114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 (inbyggt)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Experiment tracking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Gratis i Databricks CE </a:t>
                      </a:r>
                      <a:endParaRPr/>
                    </a:p>
                  </a:txBody>
                  <a:tcPr marL="190025" marR="114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L="114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Versionshantering, portfolio</a:t>
                      </a:r>
                      <a:endParaRPr/>
                    </a:p>
                  </a:txBody>
                  <a:tcPr marL="190025" marR="190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Gratis</a:t>
                      </a:r>
                      <a:endParaRPr/>
                    </a:p>
                  </a:txBody>
                  <a:tcPr marL="190025" marR="114025" marT="118775" marB="118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 txBox="1">
            <a:spLocks noGrp="1"/>
          </p:cNvSpPr>
          <p:nvPr>
            <p:ph type="title"/>
          </p:nvPr>
        </p:nvSpPr>
        <p:spPr>
          <a:xfrm>
            <a:off x="81369" y="248038"/>
            <a:ext cx="7682065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1: </a:t>
            </a:r>
            <a:br>
              <a:rPr lang="sv-SE" sz="3700">
                <a:solidFill>
                  <a:srgbClr val="FFFFFF"/>
                </a:solidFill>
              </a:rPr>
            </a:b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Skapa Snowflake Trial-konto (Steg-för-steg)</a:t>
            </a:r>
            <a:endParaRPr/>
          </a:p>
        </p:txBody>
      </p:sp>
      <p:graphicFrame>
        <p:nvGraphicFramePr>
          <p:cNvPr id="212" name="Google Shape;212;p12"/>
          <p:cNvGraphicFramePr/>
          <p:nvPr/>
        </p:nvGraphicFramePr>
        <p:xfrm>
          <a:off x="0" y="171762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{DB10B339-6396-4F68-8CE8-AFA409E144A8}</a:tableStyleId>
              </a:tblPr>
              <a:tblGrid>
                <a:gridCol w="46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N</a:t>
                      </a:r>
                      <a:endParaRPr/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Åtgärd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Detaljerade Instruktioner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Skärmdump / Notering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1.1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Gå till rätt webbplats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Öppna din webbläsare och gå till: https://trial.snowflake.com 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Viktigt:</a:t>
                      </a:r>
                      <a:r>
                        <a:rPr lang="sv-SE" sz="1200" b="0" u="none" strike="noStrike" cap="none"/>
                        <a:t> Använd denna länk för att komma direkt till rätt registreringsformulär.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1.2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Fyll i dina uppgifter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Ange följande information:</a:t>
                      </a:r>
                      <a:br>
                        <a:rPr lang="sv-SE" sz="1200" b="0" u="none" strike="noStrike" cap="none"/>
                      </a:b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Full name:</a:t>
                      </a:r>
                      <a:r>
                        <a:rPr lang="sv-SE" sz="1200" b="0" u="none" strike="noStrike" cap="none"/>
                        <a:t> Ditt för- och efternamn.</a:t>
                      </a:r>
                      <a:br>
                        <a:rPr lang="sv-SE" sz="1200" b="0" u="none" strike="noStrike" cap="none"/>
                      </a:b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Email:</a:t>
                      </a:r>
                      <a:r>
                        <a:rPr lang="sv-SE" sz="1200" b="0" u="none" strike="noStrike" cap="none"/>
                        <a:t> Din e-postadress (Gmail/Outlook fungerar utmärkt) .</a:t>
                      </a:r>
                      <a:br>
                        <a:rPr lang="sv-SE" sz="1200" b="0" u="none" strike="noStrike" cap="none"/>
                      </a:b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Role:</a:t>
                      </a:r>
                      <a:r>
                        <a:rPr lang="sv-SE" sz="1200" b="0" u="none" strike="noStrike" cap="none"/>
                        <a:t> Välj Data Engineer eller Student.</a:t>
                      </a:r>
                      <a:br>
                        <a:rPr lang="sv-SE" sz="1200" b="0" u="none" strike="noStrike" cap="none"/>
                      </a:b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Company:</a:t>
                      </a:r>
                      <a:r>
                        <a:rPr lang="sv-SE" sz="1200" b="0" u="none" strike="noStrike" cap="none"/>
                        <a:t> Skriv Self Employed eller Student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Snowflake kräver </a:t>
                      </a:r>
                      <a:r>
                        <a:rPr lang="sv-SE" sz="1200" b="1" u="none" strike="noStrike" cap="none"/>
                        <a:t>inga betalkortsuppgifter</a:t>
                      </a:r>
                      <a:r>
                        <a:rPr lang="sv-SE" sz="1200" b="0" u="none" strike="noStrike" cap="none"/>
                        <a:t> för att starta en trial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1.3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Väl rätt "Edition"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Välj </a:t>
                      </a:r>
                      <a:r>
                        <a:rPr lang="sv-SE" sz="1200" b="1" u="none" strike="noStrike" cap="none"/>
                        <a:t>Enterprise Edition</a:t>
                      </a:r>
                      <a:r>
                        <a:rPr lang="sv-SE" sz="1200" b="0" u="none" strike="noStrike" cap="none"/>
                        <a:t>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Varför?</a:t>
                      </a:r>
                      <a:r>
                        <a:rPr lang="sv-SE" sz="1200" b="0" u="none" strike="noStrike" cap="none"/>
                        <a:t> Denna version ger dig tillgång till alla funktioner du behöver för projektet, till exempel Materialized Views, som inte finns i Standard Edition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1.4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Välj molnleverantör &amp; region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Cloud Provider:</a:t>
                      </a:r>
                      <a:r>
                        <a:rPr lang="sv-SE" sz="1200" b="0" u="none" strike="noStrike" cap="none"/>
                        <a:t> Välj Microsoft Azure (fungerar lika bra som AWS/GCP).</a:t>
                      </a:r>
                      <a:br>
                        <a:rPr lang="sv-SE" sz="1200" b="0" u="none" strike="noStrike" cap="none"/>
                      </a:br>
                      <a:r>
                        <a:rPr lang="sv-SE" sz="1200" b="0" u="none" strike="noStrike" cap="none"/>
                        <a:t>• </a:t>
                      </a:r>
                      <a:r>
                        <a:rPr lang="sv-SE" sz="1200" b="1" u="none" strike="noStrike" cap="none"/>
                        <a:t>Region:</a:t>
                      </a:r>
                      <a:r>
                        <a:rPr lang="sv-SE" sz="1200" b="0" u="none" strike="noStrike" cap="none"/>
                        <a:t> Välj den region som är </a:t>
                      </a:r>
                      <a:r>
                        <a:rPr lang="sv-SE" sz="1200" b="1" u="none" strike="noStrike" cap="none"/>
                        <a:t>geografiskt närmast dig</a:t>
                      </a:r>
                      <a:r>
                        <a:rPr lang="sv-SE" sz="1200" b="0" u="none" strike="noStrike" cap="none"/>
                        <a:t> (t.ex. Sweden Central eller North Europe). 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Detta minskar eventuell fördröjning. </a:t>
                      </a:r>
                      <a:r>
                        <a:rPr lang="sv-SE" sz="1200" b="1" u="none" strike="noStrike" cap="none"/>
                        <a:t>Du ärver ingen kostnad</a:t>
                      </a:r>
                      <a:r>
                        <a:rPr lang="sv-SE" sz="1200" b="0" u="none" strike="noStrike" cap="none"/>
                        <a:t> för ditt val, det är bara för att optimera hastigheten.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1.5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Bekräfta att du är människa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Klicka i alla rutor som visar </a:t>
                      </a:r>
                      <a:r>
                        <a:rPr lang="sv-SE" sz="1200" b="1" u="none" strike="noStrike" cap="none"/>
                        <a:t>cyklar</a:t>
                      </a:r>
                      <a:r>
                        <a:rPr lang="sv-SE" sz="1200" b="0" u="none" strike="noStrike" cap="none"/>
                        <a:t> (eller det föremål som visas på skärmen) för att verifiera att du inte är en robot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Läs instruktionen noga. Ibland ber den dig klicka på bilar eller skyltar.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1.6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Svara på frågor (valfritt)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Du kommer att få några frågor om din erfarenhet. Svara ärligt eller hoppa över. Detta påverkar </a:t>
                      </a:r>
                      <a:r>
                        <a:rPr lang="sv-SE" sz="1200" b="1" u="none" strike="noStrike" cap="none"/>
                        <a:t>inte</a:t>
                      </a:r>
                      <a:r>
                        <a:rPr lang="sv-SE" sz="1200" b="0" u="none" strike="noStrike" cap="none"/>
                        <a:t> ditt konto eller dess krediter.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Du kan till exempel välja "Cloud Data Warehousing" som intresseområde.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1.7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Aktivera ditt konto via e-post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Gå till din e-postinkorg. Du kommer att få ett mejl från Snowflake med en </a:t>
                      </a:r>
                      <a:r>
                        <a:rPr lang="sv-SE" sz="1200" b="1" u="none" strike="noStrike" cap="none"/>
                        <a:t>aktiveringslänk</a:t>
                      </a:r>
                      <a:r>
                        <a:rPr lang="sv-SE" sz="1200" b="0" u="none" strike="noStrike" cap="none"/>
                        <a:t> ("CLICK TO ACTIVATE")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Spara länken!</a:t>
                      </a:r>
                      <a:r>
                        <a:rPr lang="sv-SE" sz="1200" b="0" u="none" strike="noStrike" cap="none"/>
                        <a:t> Detta är din unika URL till ditt Snowflake-konto. Den kommer att se ut ungefär så här: https://xxxxx.ap-southeast-2.azure.snowflakecomputing.com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1.8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Skapa dina inloggningsuppgifter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Klicka på aktiveringslänken. Du kommer då till en sida där du skapar ditt </a:t>
                      </a:r>
                      <a:r>
                        <a:rPr lang="sv-SE" sz="1200" b="1" u="none" strike="noStrike" cap="none"/>
                        <a:t>användarnamn</a:t>
                      </a:r>
                      <a:r>
                        <a:rPr lang="sv-SE" sz="1200" b="0" u="none" strike="noStrike" cap="none"/>
                        <a:t> och </a:t>
                      </a:r>
                      <a:r>
                        <a:rPr lang="sv-SE" sz="1200" b="1" u="none" strike="noStrike" cap="none"/>
                        <a:t>lösenord</a:t>
                      </a:r>
                      <a:r>
                        <a:rPr lang="sv-SE" sz="1200" b="0" u="none" strike="noStrike" cap="none"/>
                        <a:t> 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Kom ihåg dessa!</a:t>
                      </a:r>
                      <a:r>
                        <a:rPr lang="sv-SE" sz="1200" b="0" u="none" strike="noStrike" cap="none"/>
                        <a:t> Du kommer att behöva dem varje gång du loggar in.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1.9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0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1" u="none" strike="noStrike" cap="none"/>
                        <a:t>Logga in för första gången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Efter att du skapat ditt lösenord klickar du på "Get Started" eller "Sign In". Du är nu inne i Snowflake-gränssnittet!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567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sv-SE" sz="1200" b="0" u="none" strike="noStrike" cap="none"/>
                        <a:t>Välj "Skip" om den frågar om du vill sätta upp exempeldata. Vi kommer att ladda upp vår egen data senare.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775" marR="3407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Play"/>
              <a:buNone/>
            </a:pPr>
            <a:r>
              <a:rPr lang="sv-SE" sz="3100">
                <a:solidFill>
                  <a:srgbClr val="FFFFFF"/>
                </a:solidFill>
              </a:rPr>
              <a:t>De viktigaste delarna för DIG (resten kan du ignorera för nu)</a:t>
            </a:r>
            <a:endParaRPr/>
          </a:p>
        </p:txBody>
      </p:sp>
      <p:graphicFrame>
        <p:nvGraphicFramePr>
          <p:cNvPr id="222" name="Google Shape;222;p13"/>
          <p:cNvGraphicFramePr/>
          <p:nvPr/>
        </p:nvGraphicFramePr>
        <p:xfrm>
          <a:off x="31229" y="157396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21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du ser</a:t>
                      </a:r>
                      <a:endParaRPr/>
                    </a:p>
                  </a:txBody>
                  <a:tcPr marL="71075" marR="118475" marT="74050" marB="74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det betyder</a:t>
                      </a:r>
                      <a:endParaRPr/>
                    </a:p>
                  </a:txBody>
                  <a:tcPr marL="118475" marR="118475" marT="74050" marB="74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 du använda det?</a:t>
                      </a:r>
                      <a:endParaRPr/>
                    </a:p>
                  </a:txBody>
                  <a:tcPr marL="118475" marR="118475" marT="74050" marB="74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$400 credits left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Din gratis budget – räcker till massor av analyser</a:t>
                      </a:r>
                      <a:endParaRPr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Bra – pengar kvar!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Trial ends in 30 days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Din period räknar ner från idag</a:t>
                      </a:r>
                      <a:endParaRPr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Normalt – håll koll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Upload local files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Ladda upp CSV/Excel-filer från din dator</a:t>
                      </a:r>
                      <a:endParaRPr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JA – här börjar du!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Skriva SQL-kod (som ett anteckningsblock)</a:t>
                      </a:r>
                      <a:endParaRPr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JA – här gör du arbetet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Databases</a:t>
                      </a: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(i vänstermenyn under "Catalog")</a:t>
                      </a:r>
                      <a:endParaRPr/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Var din data lagras</a:t>
                      </a:r>
                      <a:endParaRPr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JA – dina tabeller syns här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(vänstermenyn)</a:t>
                      </a:r>
                      <a:endParaRPr/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Din "motor" som kör beräkningar</a:t>
                      </a:r>
                      <a:endParaRPr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JA – starta/pausa här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En databastyp (inte relevant för dig just nu)</a:t>
                      </a:r>
                      <a:endParaRPr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Ignorera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Horizon Catalog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Ett nytt sätt att organisera data</a:t>
                      </a:r>
                      <a:endParaRPr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Ignorera för nu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Marketplace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Köpa färdiga dataset (du behöver inte)</a:t>
                      </a:r>
                      <a:endParaRPr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Ignorera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All projects / Files / Notebooks / Streamlit / Dashboards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0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Avancerade funktioner</a:t>
                      </a:r>
                      <a:endParaRPr/>
                    </a:p>
                  </a:txBody>
                  <a:tcPr marL="118475" marR="1184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Ignorera – använd Worksheets istället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475" marR="710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4"/>
          <p:cNvSpPr txBox="1">
            <a:spLocks noGrp="1"/>
          </p:cNvSpPr>
          <p:nvPr>
            <p:ph type="title"/>
          </p:nvPr>
        </p:nvSpPr>
        <p:spPr>
          <a:xfrm>
            <a:off x="2379" y="39303"/>
            <a:ext cx="12187147" cy="1532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Checklista innan Steg 2. </a:t>
            </a:r>
            <a:br>
              <a:rPr lang="sv-SE" sz="3200">
                <a:solidFill>
                  <a:srgbClr val="FFFFFF"/>
                </a:solidFill>
              </a:rPr>
            </a:br>
            <a:r>
              <a:rPr lang="sv-SE" sz="2000">
                <a:solidFill>
                  <a:srgbClr val="FFFFFF"/>
                </a:solidFill>
              </a:rPr>
              <a:t>Mål: Verifiera att Snowflake-kontot är korrekt inställt och redo för nästa steg (Databricks + dbt + ML)</a:t>
            </a:r>
            <a:endParaRPr sz="2000">
              <a:solidFill>
                <a:srgbClr val="FFFFFF"/>
              </a:solidFill>
            </a:endParaRPr>
          </a:p>
        </p:txBody>
      </p:sp>
      <p:graphicFrame>
        <p:nvGraphicFramePr>
          <p:cNvPr id="232" name="Google Shape;232;p14"/>
          <p:cNvGraphicFramePr/>
          <p:nvPr/>
        </p:nvGraphicFramePr>
        <p:xfrm>
          <a:off x="52566" y="171090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5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Kategori</a:t>
                      </a:r>
                      <a:endParaRPr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ska du göra</a:t>
                      </a:r>
                      <a:endParaRPr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Exakt handling</a:t>
                      </a:r>
                      <a:endParaRPr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(kort)</a:t>
                      </a:r>
                      <a:endParaRPr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Roll-kontroll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Byt till ACCOUNTADMIN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Högst </a:t>
                      </a:r>
                      <a:r>
                        <a:rPr lang="sv-SE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ner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till </a:t>
                      </a:r>
                      <a:r>
                        <a:rPr lang="sv-SE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vänster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→ klicka på din nuvarande roll → välj ACCOUNTADMIN från listan</a:t>
                      </a:r>
                      <a:endParaRPr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Ger dig alla rättigheter – annars kan du inte skapa tabeller eller ladda data</a:t>
                      </a:r>
                      <a:endParaRPr/>
                    </a:p>
                  </a:txBody>
                  <a:tcPr marL="143875" marR="863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Compute-motor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ditt virtual warehouse</a:t>
                      </a:r>
                      <a:endParaRPr sz="1300"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i vänstermenyn → hitta COMPUTE_WH → klicka </a:t>
                      </a: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"Start"</a:t>
                      </a: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/ </a:t>
                      </a: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"Resume"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behöver en motor för att köra SQL och ladda data</a:t>
                      </a:r>
                      <a:endParaRPr sz="1300"/>
                    </a:p>
                  </a:txBody>
                  <a:tcPr marL="143875" marR="863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anslutning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 ett test-SQL-kommando</a:t>
                      </a:r>
                      <a:endParaRPr sz="1300"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</a:t>
                      </a: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 skapa ny worksheet → skriv SELECT CURRENT_VERSION(); → klicka </a:t>
                      </a: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"Run"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att allt fungerar och att du är uppkopplad</a:t>
                      </a:r>
                      <a:endParaRPr sz="1300"/>
                    </a:p>
                  </a:txBody>
                  <a:tcPr marL="143875" marR="863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krediter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Notera din återstående budget</a:t>
                      </a:r>
                      <a:endParaRPr sz="1300"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Titta högst upp: $400 credits left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Håll koll så att du inte överskrider (kom ihåg att pausa din warehouse när du är klar)</a:t>
                      </a:r>
                      <a:endParaRPr sz="1300"/>
                    </a:p>
                  </a:txBody>
                  <a:tcPr marL="143875" marR="863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8632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trial-period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Notera slutdatum</a:t>
                      </a:r>
                      <a:endParaRPr sz="1300"/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Titta högst upp: Trial ends in X days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3875" marR="143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Planera ditt projekt så att du hinner klart inom 30 dagar</a:t>
                      </a:r>
                      <a:endParaRPr sz="1300"/>
                    </a:p>
                  </a:txBody>
                  <a:tcPr marL="143875" marR="863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5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5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Quick actions – Vad du ska göra VARJE GÅNG du arbetar</a:t>
            </a:r>
            <a:endParaRPr/>
          </a:p>
        </p:txBody>
      </p:sp>
      <p:graphicFrame>
        <p:nvGraphicFramePr>
          <p:cNvPr id="242" name="Google Shape;242;p15"/>
          <p:cNvGraphicFramePr/>
          <p:nvPr/>
        </p:nvGraphicFramePr>
        <p:xfrm>
          <a:off x="4492" y="201934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38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</a:t>
                      </a: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Handling</a:t>
                      </a: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Kort kommando / knapp</a:t>
                      </a: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Innan du börjar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din warehouse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COMPUTE_WH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"Start"</a:t>
                      </a: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/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"Resume"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 arbetet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 SQL-kod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 SQL → klicka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"Run"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Innan du slutar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 din warehouse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COMPUTE_WH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"Suspend"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 problem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din roll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Högst upp till höger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 stå ACCOUNTADMIN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 felmeddelande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om worksheet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om sidan (F5) eller skapa ny worksheet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Play"/>
              <a:buNone/>
            </a:pPr>
            <a:r>
              <a:rPr lang="sv-SE" sz="5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 tips</a:t>
            </a:r>
            <a:endParaRPr/>
          </a:p>
        </p:txBody>
      </p:sp>
      <p:graphicFrame>
        <p:nvGraphicFramePr>
          <p:cNvPr id="252" name="Google Shape;252;p16"/>
          <p:cNvGraphicFramePr/>
          <p:nvPr/>
        </p:nvGraphicFramePr>
        <p:xfrm>
          <a:off x="47624" y="170259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2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 tip</a:t>
                      </a:r>
                      <a:endParaRPr/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Pausa alltid din warehouse när du är klar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betalar bara när den är igång. Att vara inloggad kostar inget.</a:t>
                      </a:r>
                      <a:endParaRPr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Använd </a:t>
                      </a: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ACCOUNTADMIN</a:t>
                      </a: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-rollen hela tiden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Det är enklast för nybörjare. Andra roller har begränsningar.</a:t>
                      </a:r>
                      <a:endParaRPr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Spara din Snowflake-URL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Den ser ut som https://xxxxx.azure.snowflakecomputing.com – spara den i dina bokmärken.</a:t>
                      </a:r>
                      <a:endParaRPr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kan skapa nytt trial-konto med samma email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När 30 dagar är slut – bara registrera om. Dina krediter återställs.</a:t>
                      </a:r>
                      <a:endParaRPr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Undvik att ladda upp stora filer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Håll dig under 100 MB per fil – annars går det långsamt i trial-versionen.</a:t>
                      </a:r>
                      <a:endParaRPr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Skriv kommentarer i din SQL-kod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Använd -- för att skriva kommentarer. Ex: -- Detta skapar en tabell för loggar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880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Kolla din warehouse-status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6750" marR="1467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Grön = igång (kostar credits). Grå = pausad (kostar inget).</a:t>
                      </a:r>
                      <a:endParaRPr/>
                    </a:p>
                  </a:txBody>
                  <a:tcPr marL="146750" marR="88050" marT="91725" marB="91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lay"/>
              <a:buNone/>
            </a:pPr>
            <a:r>
              <a:rPr lang="sv-SE" sz="19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2: Skapa Databricks Community Edition-konto. Databricks Community Edition är helt gratis, kräver inget betalkort, och är permanent (ingen 30-dagarsgräns som Snowflake)</a:t>
            </a:r>
            <a:endParaRPr/>
          </a:p>
        </p:txBody>
      </p:sp>
      <p:graphicFrame>
        <p:nvGraphicFramePr>
          <p:cNvPr id="262" name="Google Shape;262;p17"/>
          <p:cNvGraphicFramePr/>
          <p:nvPr/>
        </p:nvGraphicFramePr>
        <p:xfrm>
          <a:off x="101546" y="1581628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43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0" marR="71650" marT="1317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0" marR="71650" marT="1317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Exakt länk / Var</a:t>
                      </a:r>
                      <a:endParaRPr/>
                    </a:p>
                  </a:txBody>
                  <a:tcPr marL="0" marR="71650" marT="1317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Detaljerade instruktioner</a:t>
                      </a:r>
                      <a:endParaRPr/>
                    </a:p>
                  </a:txBody>
                  <a:tcPr marL="0" marR="71650" marT="13175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rätt sida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sng" strike="noStrike" cap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/>
                        </a:rPr>
                        <a:t>https://community.cloud.databricks.com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 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länken i din webbläsare. Detta är den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enda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vägen till Community Edition.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2.2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"Sign Up"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Första sidan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efter knappen "Sign up" eller "Try Databricks" 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 dina uppgifter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Registreringsformulär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Ange: Namn, E-post (Gmail/Outlook fungerar bäst) , Företag (skriv "Student" eller "Self Employed")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rätt alternativ – VIKTIGAST!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molnleverantör-sida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Scrolla ner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klicka på den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lilla textlänken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"Get started with Community Edition" . Klicka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på de stora AWS/Azure/GCP-knapparna!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 valet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Pop-up-fönster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"OK" eller "Confirm" på meddelandet "Community Edition has limited features" 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din e-post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e-postinkorg (Gmail/Outlook)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får ett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verifieringsmejl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från Databricks inom 2 minuter . Kolla skräpposten om det inte syns!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din e-post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länken i mejlet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Länken heter "Verify email address" eller liknande . Du skickas till en sida där du skapar ditt lösenord.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lösenord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Lösenordssidan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ett starkt lösenord. Klicka "Submit" 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https://community.cloud.databricks.com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din e-post och ditt nya lösenord </a:t>
                      </a:r>
                      <a:endParaRPr/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Kolla att du är på rätt ställe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startsida</a:t>
                      </a:r>
                      <a:endParaRPr/>
                    </a:p>
                  </a:txBody>
                  <a:tcPr marL="0" marR="7165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 ett gränssnitt med vänstermeny: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Workspace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Workflows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43000" marT="13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Vanliga fallgropar – och hur du undviker dem</a:t>
            </a:r>
            <a:endParaRPr sz="4000">
              <a:solidFill>
                <a:srgbClr val="FFFFFF"/>
              </a:solidFill>
            </a:endParaRPr>
          </a:p>
        </p:txBody>
      </p:sp>
      <p:graphicFrame>
        <p:nvGraphicFramePr>
          <p:cNvPr id="272" name="Google Shape;272;p18"/>
          <p:cNvGraphicFramePr/>
          <p:nvPr/>
        </p:nvGraphicFramePr>
        <p:xfrm>
          <a:off x="166687" y="175021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{285BB7DE-8AC6-4827-B6FF-C3AD4FF48981}</a:tableStyleId>
              </a:tblPr>
              <a:tblGrid>
                <a:gridCol w="34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solidFill>
                            <a:schemeClr val="dk1"/>
                          </a:solidFill>
                        </a:rPr>
                        <a:t>Problem</a:t>
                      </a:r>
                      <a:endParaRPr sz="2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8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solidFill>
                            <a:schemeClr val="dk1"/>
                          </a:solidFill>
                        </a:rPr>
                        <a:t>Varför händer det?</a:t>
                      </a:r>
                      <a:endParaRPr sz="2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solidFill>
                            <a:schemeClr val="dk1"/>
                          </a:solidFill>
                        </a:rPr>
                        <a:t>Lösning</a:t>
                      </a:r>
                      <a:endParaRPr sz="2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/>
                        <a:t>Jag ser bara AWS/Azure/GCP-alternativ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8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Du klickade inte på den lilla textlänken 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Gå tillbaka, scrolla </a:t>
                      </a:r>
                      <a:r>
                        <a:rPr lang="sv-SE" sz="2100" b="1" u="none" strike="noStrike" cap="none"/>
                        <a:t>ner</a:t>
                      </a:r>
                      <a:r>
                        <a:rPr lang="sv-SE" sz="2100" b="0" u="none" strike="noStrike" cap="none"/>
                        <a:t> på sidan, klicka på "Get started with Community Edition"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885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/>
                        <a:t>Jag får ingen verifierings-e-post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8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Skräppostfilter eller fel e-post 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Kolla skräpposten. Använd Gmail/Outlook istället för jobbmejl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885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/>
                        <a:t>Jag hamnade på 14-dagars trial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8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Du klickade på fel knapp 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Börja om från steg 2.1. Community Edition är </a:t>
                      </a:r>
                      <a:r>
                        <a:rPr lang="sv-SE" sz="2100" b="1" u="none" strike="noStrike" cap="none"/>
                        <a:t>permanent gratis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885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1" u="none" strike="noStrike" cap="none"/>
                        <a:t>Sidan ber om betalkort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8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Du är på fel sida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1475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/>
                        <a:t>Gå till community.cloud.databricks.com – </a:t>
                      </a:r>
                      <a:r>
                        <a:rPr lang="sv-SE" sz="2100" b="1" u="none" strike="noStrike" cap="none"/>
                        <a:t>inte</a:t>
                      </a:r>
                      <a:r>
                        <a:rPr lang="sv-SE" sz="2100" b="0" u="none" strike="noStrike" cap="none"/>
                        <a:t> vanliga Databricks-sidan</a:t>
                      </a:r>
                      <a:endParaRPr sz="2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500" marR="885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9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Frågor från registrering</a:t>
            </a:r>
            <a:endParaRPr sz="4000">
              <a:solidFill>
                <a:srgbClr val="FFFFFF"/>
              </a:solidFill>
            </a:endParaRPr>
          </a:p>
        </p:txBody>
      </p:sp>
      <p:graphicFrame>
        <p:nvGraphicFramePr>
          <p:cNvPr id="282" name="Google Shape;282;p19"/>
          <p:cNvGraphicFramePr/>
          <p:nvPr/>
        </p:nvGraphicFramePr>
        <p:xfrm>
          <a:off x="773906" y="172640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49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7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What do you want to do first?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"See what Databricks can do"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9400" marR="16765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Tell us your goal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"Try demos and samples to understand real world workflows"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9400" marR="16765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3" name="Google Shape;283;p19"/>
          <p:cNvGraphicFramePr/>
          <p:nvPr/>
        </p:nvGraphicFramePr>
        <p:xfrm>
          <a:off x="761999" y="419099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50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Ditt val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Koppling till ditt projekt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 Warehousing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+ Databricks jobbar med detta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ETLs and Pipelines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dbt-transformationer = ETL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Lakehouse Fundamentals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Grunden för hur Databricks fungerar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0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0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0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0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</a:rPr>
              <a:t>Varför Community Edition (och inte 14-dagars trial)?</a:t>
            </a:r>
            <a:endParaRPr/>
          </a:p>
        </p:txBody>
      </p:sp>
      <p:graphicFrame>
        <p:nvGraphicFramePr>
          <p:cNvPr id="293" name="Google Shape;293;p20"/>
          <p:cNvGraphicFramePr/>
          <p:nvPr/>
        </p:nvGraphicFramePr>
        <p:xfrm>
          <a:off x="644056" y="22897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{25F86503-6E0D-4DD9-AA6D-76ADF8D03297}</a:tableStyleId>
              </a:tblPr>
              <a:tblGrid>
                <a:gridCol w="405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Funktion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Community Edition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14-dagars Trial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1" u="none" strike="noStrike" cap="none"/>
                        <a:t>Kostnad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Permanent gratis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Gratis i 14 dagar 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124900" marT="130100" marB="130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1" u="none" strike="noStrike" cap="none"/>
                        <a:t>Betalkort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❌ Behövs inte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✅ Krävs 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124900" marT="130100" marB="130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1" u="none" strike="noStrike" cap="none"/>
                        <a:t>Molnkonto (AWS/Azure)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❌ Behövs inte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✅ Behövs 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124900" marT="130100" marB="130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1" u="none" strike="noStrike" cap="none"/>
                        <a:t>Passar för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Studenter, hobbyprojekt 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Företag, POC 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124900" marT="130100" marB="130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1" u="none" strike="noStrike" cap="none"/>
                        <a:t>Ditt projekt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90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✅ </a:t>
                      </a:r>
                      <a:r>
                        <a:rPr lang="sv-SE" sz="2500" b="1" u="none" strike="noStrike" cap="none"/>
                        <a:t>Perfekt!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208150" marT="130100" marB="1301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❌ För kort tid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8150" marR="124900" marT="130100" marB="130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1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1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1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1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Play"/>
              <a:buNone/>
            </a:pPr>
            <a:r>
              <a:rPr lang="sv-SE" sz="3100">
                <a:solidFill>
                  <a:srgbClr val="FFFFFF"/>
                </a:solidFill>
              </a:rPr>
              <a:t>De viktigaste delarna för DIG (resten kan du ignorera för nu)</a:t>
            </a:r>
            <a:endParaRPr sz="3100">
              <a:solidFill>
                <a:srgbClr val="FFFFFF"/>
              </a:solidFill>
            </a:endParaRPr>
          </a:p>
        </p:txBody>
      </p:sp>
      <p:graphicFrame>
        <p:nvGraphicFramePr>
          <p:cNvPr id="303" name="Google Shape;303;p21"/>
          <p:cNvGraphicFramePr/>
          <p:nvPr/>
        </p:nvGraphicFramePr>
        <p:xfrm>
          <a:off x="216017" y="171769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82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du ser</a:t>
                      </a:r>
                      <a:endParaRPr/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Betyder</a:t>
                      </a:r>
                      <a:endParaRPr/>
                    </a:p>
                  </a:txBody>
                  <a:tcPr marL="27940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"Welcome to Databricks"</a:t>
                      </a:r>
                      <a:endParaRPr/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Inloggad korrekt</a:t>
                      </a:r>
                      <a:endParaRPr/>
                    </a:p>
                  </a:txBody>
                  <a:tcPr marL="279400" marR="16765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"Get started"</a:t>
                      </a:r>
                      <a:endParaRPr/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Gratisversionen</a:t>
                      </a:r>
                      <a:endParaRPr/>
                    </a:p>
                  </a:txBody>
                  <a:tcPr marL="279400" marR="16765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"Data engineer" / "Data analyst"</a:t>
                      </a:r>
                      <a:endParaRPr/>
                    </a:p>
                  </a:txBody>
                  <a:tcPr marL="167650" marR="27940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Community Edition</a:t>
                      </a:r>
                      <a:endParaRPr/>
                    </a:p>
                  </a:txBody>
                  <a:tcPr marL="279400" marR="167650" marT="174625" marB="174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4" name="Google Shape;304;p21"/>
          <p:cNvGraphicFramePr/>
          <p:nvPr/>
        </p:nvGraphicFramePr>
        <p:xfrm>
          <a:off x="407046" y="420528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68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ser detta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Ska du göra?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Start learning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Learn the basics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Watch videos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Explore demos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"Your resources" tomt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Det är normalt!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 txBox="1">
            <a:spLocks noGrp="1"/>
          </p:cNvSpPr>
          <p:nvPr>
            <p:ph type="title"/>
          </p:nvPr>
        </p:nvSpPr>
        <p:spPr>
          <a:xfrm>
            <a:off x="558590" y="586822"/>
            <a:ext cx="4405595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sv-SE" sz="2000">
                <a:latin typeface="Play"/>
                <a:ea typeface="Play"/>
                <a:cs typeface="Play"/>
                <a:sym typeface="Play"/>
              </a:rPr>
              <a:t>Steg 3.</a:t>
            </a:r>
            <a:br>
              <a:rPr lang="sv-SE" sz="2000"/>
            </a:br>
            <a:r>
              <a:rPr lang="sv-SE" sz="2000">
                <a:latin typeface="Play"/>
                <a:ea typeface="Play"/>
                <a:cs typeface="Play"/>
                <a:sym typeface="Play"/>
              </a:rPr>
              <a:t>Ladda ned Medical Internal Attack Detection </a:t>
            </a:r>
            <a:r>
              <a:rPr lang="sv-SE" sz="2000" u="sng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3"/>
              </a:rPr>
              <a:t>Dataset</a:t>
            </a:r>
            <a:r>
              <a:rPr lang="sv-SE" sz="2000">
                <a:latin typeface="Play"/>
                <a:ea typeface="Play"/>
                <a:cs typeface="Play"/>
                <a:sym typeface="Play"/>
              </a:rPr>
              <a:t>: </a:t>
            </a:r>
            <a:r>
              <a:rPr lang="sv-SE" sz="2000" u="sng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3"/>
              </a:rPr>
              <a:t>https://www.kaggle.com/datasets/zara2099/medical-internal-attack-detection-dataset?resource=download</a:t>
            </a:r>
            <a:r>
              <a:rPr lang="sv-SE" sz="2000">
                <a:latin typeface="Play"/>
                <a:ea typeface="Play"/>
                <a:cs typeface="Play"/>
                <a:sym typeface="Play"/>
              </a:rPr>
              <a:t> </a:t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4982075" y="586825"/>
            <a:ext cx="6645600" cy="18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Datasetet innehåller information om: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num_failed_logins – misslyckade inloggningsförsök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num_file_creations – antal skapade filer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num_access_files – antal åtkomster till patientjournaler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attack_type – klassificering av normal användning eller attack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Detta är </a:t>
            </a:r>
            <a:r>
              <a:rPr lang="sv-SE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exakt insider threat-beteende</a:t>
            </a:r>
            <a:r>
              <a:rPr lang="sv-S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som du ska analysera med din ML-modell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" name="Google Shape;315;p22"/>
          <p:cNvGraphicFramePr/>
          <p:nvPr/>
        </p:nvGraphicFramePr>
        <p:xfrm>
          <a:off x="363784" y="260736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45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300"/>
                        <a:buFont typeface="Arial"/>
                        <a:buNone/>
                      </a:pPr>
                      <a:r>
                        <a:rPr lang="sv-SE" sz="33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EGENSKAP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300"/>
                        <a:buFont typeface="Arial"/>
                        <a:buNone/>
                      </a:pPr>
                      <a:r>
                        <a:rPr lang="sv-SE" sz="33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VÄRDE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300"/>
                        <a:buFont typeface="Arial"/>
                        <a:buNone/>
                      </a:pPr>
                      <a:r>
                        <a:rPr lang="sv-SE" sz="33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BRA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Filstorlek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308.65 kB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Laddas ner på sekunder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rader</a:t>
                      </a:r>
                      <a:endParaRPr sz="2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 rader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Lagom storlek för ML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kolumner</a:t>
                      </a:r>
                      <a:endParaRPr sz="2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kolumner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Enkelt att förstå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Innehåll</a:t>
                      </a:r>
                      <a:endParaRPr sz="2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Loggar över användarbeteende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Perfekt för insider threat-detektering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Målkolumn</a:t>
                      </a:r>
                      <a:endParaRPr sz="2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attack_type</a:t>
                      </a:r>
                      <a:endParaRPr sz="2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Används för att träna ML-modellen</a:t>
                      </a:r>
                      <a:endParaRPr sz="13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3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3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Skapa Kaggle-konto (om du inte redan har ett)</a:t>
            </a:r>
            <a:endParaRPr/>
          </a:p>
        </p:txBody>
      </p:sp>
      <p:graphicFrame>
        <p:nvGraphicFramePr>
          <p:cNvPr id="325" name="Google Shape;325;p23"/>
          <p:cNvGraphicFramePr/>
          <p:nvPr/>
        </p:nvGraphicFramePr>
        <p:xfrm>
          <a:off x="126026" y="17201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5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Detaljerad instruktion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Skärmtips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Kaggle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webbläsaren och gå till www.kaggle.com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Chrome, Firefox eller Edge</a:t>
                      </a:r>
                      <a:endParaRPr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3.2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"Register"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efter registreringsknappen uppe till höger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 är blå och syns tydligt</a:t>
                      </a:r>
                      <a:endParaRPr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3.3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registreringsmetod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"Register with Email" eller använd Google-konto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Rekommenderar Google – snabbast</a:t>
                      </a:r>
                      <a:endParaRPr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 dina uppgifter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Ange: Namn, E-postadress (Gmail/Outlook fungerar bäst), Lösenord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en e-post du kommer åt</a:t>
                      </a:r>
                      <a:endParaRPr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3.5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e-post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e-postinkorg och klicka på verifieringslänken från Kaggle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Kolla skräpposten om du inte ser den</a:t>
                      </a:r>
                      <a:endParaRPr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din e-post och ditt lösenord för att logga in på Kaggle</a:t>
                      </a:r>
                      <a:endParaRPr/>
                    </a:p>
                  </a:txBody>
                  <a:tcPr marL="154975" marR="154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är nu redo att ladda ner dataset</a:t>
                      </a:r>
                      <a:endParaRPr/>
                    </a:p>
                  </a:txBody>
                  <a:tcPr marL="154975" marR="92975" marT="92975" marB="96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4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4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4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Ladda ner datasetet</a:t>
            </a:r>
            <a:endParaRPr/>
          </a:p>
        </p:txBody>
      </p:sp>
      <p:graphicFrame>
        <p:nvGraphicFramePr>
          <p:cNvPr id="335" name="Google Shape;335;p24"/>
          <p:cNvGraphicFramePr/>
          <p:nvPr/>
        </p:nvGraphicFramePr>
        <p:xfrm>
          <a:off x="122662" y="172001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77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Detaljerad instruktion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Länk / Var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3.7</a:t>
                      </a:r>
                      <a:endParaRPr sz="2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dataset-sidan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denna länk i din webbläsare: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https://www.kaggle.com/datasets/zara2099/medical-internal-attack-detection-dataset </a:t>
                      </a:r>
                      <a:endParaRPr sz="1200"/>
                    </a:p>
                  </a:txBody>
                  <a:tcPr marL="0" marR="84625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3.8</a:t>
                      </a:r>
                      <a:endParaRPr sz="2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Läs om datasetet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Scrolla ner och läs beskrivningen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 hjälper dig förstå vad datan innehåller</a:t>
                      </a:r>
                      <a:endParaRPr sz="1200"/>
                    </a:p>
                  </a:txBody>
                  <a:tcPr marL="0" marR="84625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3.9</a:t>
                      </a:r>
                      <a:endParaRPr sz="2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"Download"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efter den blå </a:t>
                      </a: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"Download"</a:t>
                      </a: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-knappen uppe till höger på sidan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Knappen har en nedåtpil-ikon</a:t>
                      </a:r>
                      <a:endParaRPr sz="1200"/>
                    </a:p>
                  </a:txBody>
                  <a:tcPr marL="0" marR="84625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3.10</a:t>
                      </a:r>
                      <a:endParaRPr sz="2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Vänta på nedladdningen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Filen Medical_Internal_Attacks_Dataset.csv laddas ner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 bara några sekunder (308 KB)</a:t>
                      </a:r>
                      <a:endParaRPr sz="1200"/>
                    </a:p>
                  </a:txBody>
                  <a:tcPr marL="0" marR="84625" marT="0" marB="0" anchor="ctr">
                    <a:lnL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E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3.11</a:t>
                      </a:r>
                      <a:endParaRPr sz="2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filen på din dator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en plats du lätt hittar, t.ex. </a:t>
                      </a:r>
                      <a:r>
                        <a:rPr lang="sv-SE" sz="2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Skrivbordet</a:t>
                      </a: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eller en mapp som heter "Projektdata"</a:t>
                      </a:r>
                      <a:endParaRPr sz="1200"/>
                    </a:p>
                  </a:txBody>
                  <a:tcPr marL="0" marR="141050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 ihåg var du sparar!</a:t>
                      </a:r>
                      <a:endParaRPr sz="1200"/>
                    </a:p>
                  </a:txBody>
                  <a:tcPr marL="0" marR="84625" marT="0" marB="0" anchor="ctr">
                    <a:lnL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5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5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5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Vanliga frågor</a:t>
            </a:r>
            <a:endParaRPr/>
          </a:p>
        </p:txBody>
      </p:sp>
      <p:graphicFrame>
        <p:nvGraphicFramePr>
          <p:cNvPr id="345" name="Google Shape;345;p25"/>
          <p:cNvGraphicFramePr/>
          <p:nvPr/>
        </p:nvGraphicFramePr>
        <p:xfrm>
          <a:off x="19175" y="218697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40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0" marR="2400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0" marR="2400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betala för Kaggle-konto?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400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Nej, Kaggle är helt gratis! </a:t>
                      </a:r>
                      <a:endParaRPr/>
                    </a:p>
                  </a:txBody>
                  <a:tcPr marL="0" marR="144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just detta dataset?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400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 är litet (308 KB), laddas ner snabbt, och innehåller perfekt data för insider threat-detektering.</a:t>
                      </a:r>
                      <a:endParaRPr/>
                    </a:p>
                  </a:txBody>
                  <a:tcPr marL="0" marR="144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använda ett annat dataset?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400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Ja, men detta är rekommenderat för nybörjare eftersom det är enkelt och litet.</a:t>
                      </a:r>
                      <a:endParaRPr/>
                    </a:p>
                  </a:txBody>
                  <a:tcPr marL="0" marR="144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gör jag om nedladdningen inte fungerar?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2400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 att ladda om sidan, logga ut och in igen, eller använd en annan webbläsare.</a:t>
                      </a:r>
                      <a:endParaRPr/>
                    </a:p>
                  </a:txBody>
                  <a:tcPr marL="0" marR="1440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6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6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6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4: Ladda upp data till Snowflake</a:t>
            </a:r>
            <a:endParaRPr/>
          </a:p>
        </p:txBody>
      </p:sp>
      <p:pic>
        <p:nvPicPr>
          <p:cNvPr id="355" name="Google Shape;355;p26" descr="En bild som visar text, Teckensnitt, skärmbild, diagram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32225" y="3526880"/>
            <a:ext cx="11327549" cy="1330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7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7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7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Ladda upp data till Snowflake</a:t>
            </a:r>
            <a:endParaRPr/>
          </a:p>
        </p:txBody>
      </p:sp>
      <p:graphicFrame>
        <p:nvGraphicFramePr>
          <p:cNvPr id="365" name="Google Shape;365;p27"/>
          <p:cNvGraphicFramePr/>
          <p:nvPr/>
        </p:nvGraphicFramePr>
        <p:xfrm>
          <a:off x="16617" y="1806059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0" marR="1098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</a:t>
                      </a:r>
                      <a:endParaRPr/>
                    </a:p>
                  </a:txBody>
                  <a:tcPr marL="0" marR="1098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Värde / Instruktion</a:t>
                      </a:r>
                      <a:endParaRPr/>
                    </a:p>
                  </a:txBody>
                  <a:tcPr marL="0" marR="1098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 på Snowflake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Snowflake-URL (t.ex. https://xxxxx.azure.snowflakecomputing.com)</a:t>
                      </a:r>
                      <a:endParaRPr/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roll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Högst upp till höger → välj ACCOUNTADMIN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4.3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Compute-motorn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 → Compute → COMPUTE_WH → Klicka på namnet →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"Resume"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 Status ändras: Suspended → Starting → Started (grön)</a:t>
                      </a:r>
                      <a:endParaRPr/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"Upload local files"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Hem-sidan (klicka på Snowflake-loggan) → Under "Quick actions" →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"Upload local files"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upp CSV-filen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 Medical_Internal_Attacks_Dataset.csv till rutan ELLER klicka på "or" och välj filen</a:t>
                      </a:r>
                      <a:endParaRPr/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databas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Rullgardin "Select or create a database" → Välj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"Create new database"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Name: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INSIDER_THREAT_DB →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Comment: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(lämna tomt) → klicka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"Done"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tabell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Rullgardin "Select or create a table" → Välj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"Create new table"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 name: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RAW_ACCESS_LOGS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kolumner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"Edit Schema" – visa 15 kolumner, kontrollera att attack_type finns sist</a:t>
                      </a:r>
                      <a:endParaRPr/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"Load"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Blå knapp längst ner → laddning tar 10-20 sekunder</a:t>
                      </a:r>
                      <a:endParaRPr/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 laddning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Popup: 4,000 rows were successfully inserted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4.11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med SQL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+ Worksheet → kör: SELECT COUNT(*) FROM INSIDER_THREAT_DB.PUBLIC.RAW_ACCESS_LOGS; → Resultat: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4.12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098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data (valfritt)</a:t>
                      </a:r>
                      <a:endParaRPr/>
                    </a:p>
                  </a:txBody>
                  <a:tcPr marL="0" marR="109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Kör: SELECT * FROM INSIDER_THREAT_DB.PUBLIC.RAW_ACCESS_LOGS LIMIT 10; → Visar 10 rader med kolumner som duration, protocol_type, attack_type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658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8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8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8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 tips</a:t>
            </a:r>
            <a:endParaRPr/>
          </a:p>
        </p:txBody>
      </p:sp>
      <p:graphicFrame>
        <p:nvGraphicFramePr>
          <p:cNvPr id="375" name="Google Shape;375;p28"/>
          <p:cNvGraphicFramePr/>
          <p:nvPr/>
        </p:nvGraphicFramePr>
        <p:xfrm>
          <a:off x="59531" y="211931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52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0" marR="867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0" marR="8670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 Compute-motorn efteråt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 → Compute → COMPUTE_WH → 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"Suspend"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sparar dina krediter</a:t>
                      </a:r>
                      <a:endParaRPr/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Hitta tabellen i Catalog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Catalog → Databases → INSIDER_THREAT_DB → PUBLIC → RAW_ACCESS_LOGS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rader är normalt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Förhandsvisning visar bara 100 – alla 4000 finns där</a:t>
                      </a:r>
                      <a:endParaRPr/>
                    </a:p>
                  </a:txBody>
                  <a:tcPr marL="0" marR="86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9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9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9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9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9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4 är klart</a:t>
            </a:r>
            <a:endParaRPr/>
          </a:p>
        </p:txBody>
      </p:sp>
      <p:pic>
        <p:nvPicPr>
          <p:cNvPr id="386" name="Google Shape;386;p29" descr="En bild som visar text, skärmbild, Teckensnitt, linje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990216" y="467208"/>
            <a:ext cx="4250171" cy="5923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0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0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0"/>
          <p:cNvSpPr txBox="1">
            <a:spLocks noGrp="1"/>
          </p:cNvSpPr>
          <p:nvPr>
            <p:ph type="title"/>
          </p:nvPr>
        </p:nvSpPr>
        <p:spPr>
          <a:xfrm>
            <a:off x="104401" y="248038"/>
            <a:ext cx="8397220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sv-SE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Så här stänger du av Compute-motorn (sparar dina krediter). </a:t>
            </a:r>
            <a:br>
              <a:rPr lang="sv-SE" sz="2800"/>
            </a:br>
            <a:r>
              <a:rPr lang="sv-SE" sz="19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Din Compute-motor kostar krediter när den är igång. När du är klar för dagen pausar du den – då kostar den ingenting. Din data och databas sparas automatiskt.</a:t>
            </a:r>
            <a:endParaRPr/>
          </a:p>
        </p:txBody>
      </p:sp>
      <p:graphicFrame>
        <p:nvGraphicFramePr>
          <p:cNvPr id="396" name="Google Shape;396;p30"/>
          <p:cNvGraphicFramePr/>
          <p:nvPr/>
        </p:nvGraphicFramePr>
        <p:xfrm>
          <a:off x="253631" y="171047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08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ser du?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Compute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Vänstermenyn → </a:t>
                      </a: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</a:t>
                      </a: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→ </a:t>
                      </a: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lista med dina warehouses visas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rätt warehouse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efter raden COMPUTE_WH i tabellen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står "Started" (grön text)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detaljsidan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namnet COMPUTE_WH (blå länk)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ny sida med information visas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"Suspend"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Uppe till höger – blå knappen </a:t>
                      </a: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"Suspend"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Knappen finns bredvid "Drop"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Popup-fönster visas (välj "Suspend" eller "OK")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Vänta 5 sekunder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status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 ändras från "Started" → </a:t>
                      </a: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"Suspended"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Textfärgen blir grå (inte grön längre)</a:t>
                      </a: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1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1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1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Så här ser det ut före och efter:</a:t>
            </a:r>
            <a:endParaRPr/>
          </a:p>
        </p:txBody>
      </p:sp>
      <p:graphicFrame>
        <p:nvGraphicFramePr>
          <p:cNvPr id="406" name="Google Shape;406;p31"/>
          <p:cNvGraphicFramePr/>
          <p:nvPr/>
        </p:nvGraphicFramePr>
        <p:xfrm>
          <a:off x="1112621" y="196629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10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4360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300"/>
                        <a:buFont typeface="Arial"/>
                        <a:buNone/>
                      </a:pPr>
                      <a:r>
                        <a:rPr lang="sv-SE" sz="4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Före (igång)</a:t>
                      </a:r>
                      <a:endParaRPr/>
                    </a:p>
                  </a:txBody>
                  <a:tcPr marL="170450" marR="405825" marT="48700" marB="3652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4360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300"/>
                        <a:buFont typeface="Arial"/>
                        <a:buNone/>
                      </a:pPr>
                      <a:r>
                        <a:rPr lang="sv-SE" sz="4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Efter (pausad)</a:t>
                      </a:r>
                      <a:endParaRPr/>
                    </a:p>
                  </a:txBody>
                  <a:tcPr marL="170450" marR="405825" marT="48700" marB="3652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Status: </a:t>
                      </a: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Started</a:t>
                      </a: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(grön)</a:t>
                      </a:r>
                      <a:endParaRPr/>
                    </a:p>
                  </a:txBody>
                  <a:tcPr marL="170450" marR="405825" marT="48700" marB="3652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Status: </a:t>
                      </a: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Suspended</a:t>
                      </a: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(grå)</a:t>
                      </a:r>
                      <a:endParaRPr/>
                    </a:p>
                  </a:txBody>
                  <a:tcPr marL="170450" marR="243500" marT="48700" marB="36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Kostar krediter 💰</a:t>
                      </a:r>
                      <a:endParaRPr/>
                    </a:p>
                  </a:txBody>
                  <a:tcPr marL="170450" marR="405825" marT="48700" marB="3652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Kostar inget ✅</a:t>
                      </a:r>
                      <a:endParaRPr/>
                    </a:p>
                  </a:txBody>
                  <a:tcPr marL="170450" marR="243500" marT="48700" marB="36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0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Knappen heter "Suspend"</a:t>
                      </a:r>
                      <a:endParaRPr/>
                    </a:p>
                  </a:txBody>
                  <a:tcPr marL="170450" marR="405825" marT="48700" marB="3652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Knappen heter "Resume"</a:t>
                      </a:r>
                      <a:endParaRPr/>
                    </a:p>
                  </a:txBody>
                  <a:tcPr marL="170450" marR="243500" marT="48700" marB="36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2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2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2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Viktigt att veta</a:t>
            </a:r>
            <a:endParaRPr/>
          </a:p>
        </p:txBody>
      </p:sp>
      <p:graphicFrame>
        <p:nvGraphicFramePr>
          <p:cNvPr id="416" name="Google Shape;416;p32"/>
          <p:cNvGraphicFramePr/>
          <p:nvPr/>
        </p:nvGraphicFramePr>
        <p:xfrm>
          <a:off x="51270" y="2013093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C0E4F5"/>
                </a:solidFill>
                <a:tableStyleId>{0F4F30DF-796E-4B71-B604-BF9DE2107E0F}</a:tableStyleId>
              </a:tblPr>
              <a:tblGrid>
                <a:gridCol w="606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202700" marR="202700" marT="202700" marB="202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202700" marR="202700" marT="202700" marB="202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Försvinner min data när jag stänger av?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5125" marR="2252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Nej! Datan finns kvar i databasen INSIDER_THREAT_DB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25225" marR="1351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Försvinner min databas?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5125" marR="2252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Nej – databasen är gratis och sparas automatiskt</a:t>
                      </a:r>
                      <a:endParaRPr/>
                    </a:p>
                  </a:txBody>
                  <a:tcPr marL="225225" marR="1351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göra detta varje dag?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5125" marR="2252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 – för att spara dina gratiskrediter</a:t>
                      </a:r>
                      <a:endParaRPr/>
                    </a:p>
                  </a:txBody>
                  <a:tcPr marL="225225" marR="1351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Hur startar jag imorgon?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5125" marR="2252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Compute → COMPUTE_WH → klicka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"Resume"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25225" marR="135125" marT="140750" marB="135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3"/>
          <p:cNvSpPr txBox="1"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Steg 5: Skapa dbt-projekt</a:t>
            </a:r>
            <a:endParaRPr/>
          </a:p>
        </p:txBody>
      </p:sp>
      <p:sp>
        <p:nvSpPr>
          <p:cNvPr id="423" name="Google Shape;423;p33"/>
          <p:cNvSpPr/>
          <p:nvPr/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/>
          <p:nvPr/>
        </p:nvSpPr>
        <p:spPr>
          <a:xfrm rot="10800000" flipH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p33"/>
          <p:cNvGrpSpPr/>
          <p:nvPr/>
        </p:nvGrpSpPr>
        <p:grpSpPr>
          <a:xfrm>
            <a:off x="838200" y="2634363"/>
            <a:ext cx="10515600" cy="2941329"/>
            <a:chOff x="0" y="708097"/>
            <a:chExt cx="10515600" cy="2941329"/>
          </a:xfrm>
        </p:grpSpPr>
        <p:sp>
          <p:nvSpPr>
            <p:cNvPr id="426" name="Google Shape;426;p33"/>
            <p:cNvSpPr/>
            <p:nvPr/>
          </p:nvSpPr>
          <p:spPr>
            <a:xfrm>
              <a:off x="0" y="708097"/>
              <a:ext cx="10515600" cy="1307257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395445" y="1002230"/>
              <a:ext cx="718991" cy="71899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1509882" y="708097"/>
              <a:ext cx="9005717" cy="13072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3"/>
            <p:cNvSpPr txBox="1"/>
            <p:nvPr/>
          </p:nvSpPr>
          <p:spPr>
            <a:xfrm>
              <a:off x="1509882" y="708097"/>
              <a:ext cx="9005717" cy="13072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350" tIns="138350" rIns="138350" bIns="1383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sv-SE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Du skapar ett dbt-projekt som ska transformera din rådata i Snowflake. dbt fungerar som ett lager mellan din rådata och din ML-modell – det skapar rena, strukturerade tabeller som Databricks kan använda.</a:t>
              </a:r>
              <a:endParaRPr/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0" y="2342169"/>
              <a:ext cx="10515600" cy="1307257"/>
            </a:xfrm>
            <a:prstGeom prst="roundRect">
              <a:avLst>
                <a:gd name="adj" fmla="val 10000"/>
              </a:avLst>
            </a:prstGeom>
            <a:solidFill>
              <a:srgbClr val="176B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3"/>
            <p:cNvSpPr/>
            <p:nvPr/>
          </p:nvSpPr>
          <p:spPr>
            <a:xfrm>
              <a:off x="395445" y="2636302"/>
              <a:ext cx="718991" cy="71899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3"/>
            <p:cNvSpPr/>
            <p:nvPr/>
          </p:nvSpPr>
          <p:spPr>
            <a:xfrm>
              <a:off x="1509882" y="2342169"/>
              <a:ext cx="9005717" cy="13072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3"/>
            <p:cNvSpPr txBox="1"/>
            <p:nvPr/>
          </p:nvSpPr>
          <p:spPr>
            <a:xfrm>
              <a:off x="1509882" y="2342169"/>
              <a:ext cx="9005717" cy="13072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350" tIns="138350" rIns="138350" bIns="1383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sv-SE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 den här guiden använder du </a:t>
              </a:r>
              <a:r>
                <a:rPr lang="sv-SE" sz="2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dbt Cloud</a:t>
              </a:r>
              <a:r>
                <a:rPr lang="sv-SE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(gratisversionen via webbläsaren), vilket innebär att du inte behöver installera något lokalt. Allt görs i molnet precis som Snowflake och Databricks .</a:t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4"/>
          <p:cNvSpPr txBox="1"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sv-SE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Steg 5: Skapa dbt-projekt</a:t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3807702" y="1733454"/>
            <a:ext cx="4572000" cy="18288"/>
          </a:xfrm>
          <a:custGeom>
            <a:avLst/>
            <a:gdLst/>
            <a:ahLst/>
            <a:cxnLst/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" name="Google Shape;441;p34" descr="En bild som visar text, Teckensnitt, skärmbild, diagram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2841" y="3535449"/>
            <a:ext cx="12194634" cy="95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5"/>
          <p:cNvSpPr/>
          <p:nvPr/>
        </p:nvSpPr>
        <p:spPr>
          <a:xfrm rot="-2700000" flipH="1">
            <a:off x="-376156" y="-253670"/>
            <a:ext cx="1827638" cy="1376989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5"/>
          <p:cNvSpPr/>
          <p:nvPr/>
        </p:nvSpPr>
        <p:spPr>
          <a:xfrm rot="-27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5"/>
          <p:cNvSpPr/>
          <p:nvPr/>
        </p:nvSpPr>
        <p:spPr>
          <a:xfrm rot="-27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5"/>
          <p:cNvSpPr/>
          <p:nvPr/>
        </p:nvSpPr>
        <p:spPr>
          <a:xfrm rot="10800000" flipH="1">
            <a:off x="9356643" y="0"/>
            <a:ext cx="2835357" cy="1480837"/>
          </a:xfrm>
          <a:custGeom>
            <a:avLst/>
            <a:gdLst/>
            <a:ahLst/>
            <a:cxnLst/>
            <a:rect l="l" t="t" r="r" b="b"/>
            <a:pathLst>
              <a:path w="2835357" h="1480837" extrusionOk="0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5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5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3" name="Google Shape;453;p35"/>
          <p:cNvGraphicFramePr/>
          <p:nvPr/>
        </p:nvGraphicFramePr>
        <p:xfrm>
          <a:off x="71886" y="81950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76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VERKTYG</a:t>
                      </a:r>
                      <a:endParaRPr/>
                    </a:p>
                  </a:txBody>
                  <a:tcPr marL="175325" marR="175325" marT="175325" marB="1753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DET?</a:t>
                      </a:r>
                      <a:endParaRPr/>
                    </a:p>
                  </a:txBody>
                  <a:tcPr marL="175325" marR="175325" marT="175325" marB="1753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BEHÖVER DU DET?</a:t>
                      </a:r>
                      <a:endParaRPr/>
                    </a:p>
                  </a:txBody>
                  <a:tcPr marL="175325" marR="175325" marT="175325" marB="1753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HÄNDER UTAN DET?</a:t>
                      </a:r>
                      <a:endParaRPr/>
                    </a:p>
                  </a:txBody>
                  <a:tcPr marL="175325" marR="175325" marT="175325" marB="1753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Ett molnbaserat data warehouse (databas i molnet)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Lagrar alla 4 000 rader av rådata på ett säkert och skalbart sätt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hantera data lokalt på din dator – vilket blir långsamt och opålitligt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Ett transformationsverktyg som rensar och strukturerar data med SQL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din rådata ren och förberedd för maskininlärning – skapar features som "antal misslyckade inloggningar"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ML-modell får direkt tillgång till rå, ostrukturerad data – vilket ger dåliga eller felaktiga förutsägelser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1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plattform för maskininlärning och big data-analys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Bygger själva ML-modellen som upptäcker insiderhot baserat på dina rena features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kan inte träna någon modell alls – projektet stannar</a:t>
                      </a:r>
                      <a:endParaRPr/>
                    </a:p>
                  </a:txBody>
                  <a:tcPr marL="175325" marR="175325" marT="175325" marB="175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6"/>
          <p:cNvSpPr/>
          <p:nvPr/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6"/>
          <p:cNvSpPr txBox="1"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Vad gör du i Steg 5?</a:t>
            </a:r>
            <a:endParaRPr/>
          </a:p>
        </p:txBody>
      </p:sp>
      <p:sp>
        <p:nvSpPr>
          <p:cNvPr id="461" name="Google Shape;461;p36"/>
          <p:cNvSpPr/>
          <p:nvPr/>
        </p:nvSpPr>
        <p:spPr>
          <a:xfrm flipH="1">
            <a:off x="0" y="5486400"/>
            <a:ext cx="2672863" cy="1371600"/>
          </a:xfrm>
          <a:custGeom>
            <a:avLst/>
            <a:gdLst/>
            <a:ahLst/>
            <a:cxnLst/>
            <a:rect l="l" t="t" r="r" b="b"/>
            <a:pathLst>
              <a:path w="2672863" h="1371600" extrusionOk="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36" descr="En bild som visar text, skärmbild, Teckensnitt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5733" y="-5316"/>
            <a:ext cx="2420853" cy="6866787"/>
          </a:xfrm>
          <a:custGeom>
            <a:avLst/>
            <a:gdLst/>
            <a:ahLst/>
            <a:cxnLst/>
            <a:rect l="l" t="t" r="r" b="b"/>
            <a:pathLst>
              <a:path w="4777381" h="5643794" extrusionOk="0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63" name="Google Shape;463;p36"/>
          <p:cNvSpPr txBox="1">
            <a:spLocks noGrp="1"/>
          </p:cNvSpPr>
          <p:nvPr>
            <p:ph type="body" idx="1"/>
          </p:nvPr>
        </p:nvSpPr>
        <p:spPr>
          <a:xfrm>
            <a:off x="5894962" y="1984443"/>
            <a:ext cx="5458838" cy="419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sv-SE">
                <a:highlight>
                  <a:srgbClr val="FFFFFF"/>
                </a:highlight>
              </a:rPr>
              <a:t>I Steg 5 skapar du ett </a:t>
            </a:r>
            <a:r>
              <a:rPr lang="sv-SE" b="1">
                <a:highlight>
                  <a:srgbClr val="FFFFFF"/>
                </a:highlight>
              </a:rPr>
              <a:t>dbt-projekt</a:t>
            </a:r>
            <a:r>
              <a:rPr lang="sv-SE">
                <a:highlight>
                  <a:srgbClr val="FFFFFF"/>
                </a:highlight>
              </a:rPr>
              <a:t> och kopplar ihop det med Snowflake. Detta är brobyggaren mellan din rådata (Snowflake) och din ML-modell (Databricks). Utan dbt skulle din ML-modell inte förstå datan.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7"/>
          <p:cNvSpPr/>
          <p:nvPr/>
        </p:nvSpPr>
        <p:spPr>
          <a:xfrm rot="-2700000" flipH="1">
            <a:off x="-376156" y="-253670"/>
            <a:ext cx="1827638" cy="1376989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7"/>
          <p:cNvSpPr/>
          <p:nvPr/>
        </p:nvSpPr>
        <p:spPr>
          <a:xfrm rot="-27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7"/>
          <p:cNvSpPr/>
          <p:nvPr/>
        </p:nvSpPr>
        <p:spPr>
          <a:xfrm rot="-27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7"/>
          <p:cNvSpPr/>
          <p:nvPr/>
        </p:nvSpPr>
        <p:spPr>
          <a:xfrm rot="10800000" flipH="1">
            <a:off x="9356643" y="0"/>
            <a:ext cx="2835357" cy="1480837"/>
          </a:xfrm>
          <a:custGeom>
            <a:avLst/>
            <a:gdLst/>
            <a:ahLst/>
            <a:cxnLst/>
            <a:rect l="l" t="t" r="r" b="b"/>
            <a:pathLst>
              <a:path w="2835357" h="1480837" extrusionOk="0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7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7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5" name="Google Shape;475;p37"/>
          <p:cNvGraphicFramePr/>
          <p:nvPr/>
        </p:nvGraphicFramePr>
        <p:xfrm>
          <a:off x="-8150" y="15103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3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300"/>
                    </a:p>
                  </a:txBody>
                  <a:tcPr marL="0" marR="79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 sz="1300"/>
                    </a:p>
                  </a:txBody>
                  <a:tcPr marL="0" marR="79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Exakt instruktion</a:t>
                      </a:r>
                      <a:endParaRPr sz="1300"/>
                    </a:p>
                  </a:txBody>
                  <a:tcPr marL="0" marR="79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behövs detta?</a:t>
                      </a:r>
                      <a:endParaRPr sz="1300"/>
                    </a:p>
                  </a:txBody>
                  <a:tcPr marL="0" marR="79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händer om du hoppar över?</a:t>
                      </a:r>
                      <a:endParaRPr sz="1300"/>
                    </a:p>
                  </a:txBody>
                  <a:tcPr marL="0" marR="79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dbt Cloud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 https://www.getdbt.com/signup i din webbläsare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ha ett konto för att använda dbt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kan inte transformera din data – projektet stannar</a:t>
                      </a:r>
                      <a:endParaRPr sz="1300"/>
                    </a:p>
                  </a:txBody>
                  <a:tcPr marL="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konto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i: Namn, E-post, Lösenord (minst 9 tecken, stor bokstav, siffra, specialtecken). Klicka "Create my account"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Cloud är webbaserat – inget att installera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installera dbt lokalt (mycket svårare)</a:t>
                      </a:r>
                      <a:endParaRPr sz="1300"/>
                    </a:p>
                  </a:txBody>
                  <a:tcPr marL="3960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5.3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e-post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e-postinkorg → klicka på länken från dbt Labs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måste bekräfta att du är en riktig person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Kontot förblir inaktivt – du kan inte logga in</a:t>
                      </a:r>
                      <a:endParaRPr sz="1300"/>
                    </a:p>
                  </a:txBody>
                  <a:tcPr marL="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Svara på frågor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"I am new to dbt" → "I'm learning dbt to advance my career" → klicka "Complete"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anpassar din upplevelse som nybörjare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får avancerade tips som förvirrar dig</a:t>
                      </a:r>
                      <a:endParaRPr sz="1300"/>
                    </a:p>
                  </a:txBody>
                  <a:tcPr marL="3960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projekt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"New Project" → skriv insider_threat_project → klicka "Continue"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Varje projekt är en separat arbetsyta för din kod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din kod blandas ihop med andras projekt</a:t>
                      </a:r>
                      <a:endParaRPr sz="1300"/>
                    </a:p>
                  </a:txBody>
                  <a:tcPr marL="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5.6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Snowflake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"Snowflake" under "Connection settings"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data ligger i Snowflake – dbt måste prata med den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kan inte hämta din data från Snowflake</a:t>
                      </a:r>
                      <a:endParaRPr sz="1300"/>
                    </a:p>
                  </a:txBody>
                  <a:tcPr marL="3960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5.7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 konto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Account t ex: jnqaoob-to29... (från din Snowflake-URL)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behöver veta exakt var din Snowflake finns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Anslutningen misslyckas – "Server not found"</a:t>
                      </a:r>
                      <a:endParaRPr sz="1300"/>
                    </a:p>
                  </a:txBody>
                  <a:tcPr marL="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5.8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 databas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Database: INSIDER_THREAT_DB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måste veta vilken databas din data ligger i</a:t>
                      </a:r>
                      <a:endParaRPr sz="1300"/>
                    </a:p>
                  </a:txBody>
                  <a:tcPr marL="3960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letar på fel ställe – hittar inte din tabell</a:t>
                      </a:r>
                      <a:endParaRPr sz="1300"/>
                    </a:p>
                  </a:txBody>
                  <a:tcPr marL="3960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5.9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Fyll i warehouse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Warehouse: COMPUTE_WH</a:t>
                      </a:r>
                      <a:endParaRPr sz="17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behöver en motor för att köra SQL-frågor</a:t>
                      </a:r>
                      <a:endParaRPr sz="1300"/>
                    </a:p>
                  </a:txBody>
                  <a:tcPr marL="0" marR="131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Inga frågor kan köras – transformationer fungerar inte</a:t>
                      </a:r>
                      <a:endParaRPr sz="1300"/>
                    </a:p>
                  </a:txBody>
                  <a:tcPr marL="0" marR="791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8"/>
          <p:cNvSpPr/>
          <p:nvPr/>
        </p:nvSpPr>
        <p:spPr>
          <a:xfrm rot="-2700000" flipH="1">
            <a:off x="-376156" y="-253670"/>
            <a:ext cx="1827638" cy="1376989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8"/>
          <p:cNvSpPr/>
          <p:nvPr/>
        </p:nvSpPr>
        <p:spPr>
          <a:xfrm rot="-27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8"/>
          <p:cNvSpPr/>
          <p:nvPr/>
        </p:nvSpPr>
        <p:spPr>
          <a:xfrm rot="-27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8"/>
          <p:cNvSpPr/>
          <p:nvPr/>
        </p:nvSpPr>
        <p:spPr>
          <a:xfrm rot="10800000" flipH="1">
            <a:off x="9356643" y="0"/>
            <a:ext cx="2835357" cy="1480837"/>
          </a:xfrm>
          <a:custGeom>
            <a:avLst/>
            <a:gdLst/>
            <a:ahLst/>
            <a:cxnLst/>
            <a:rect l="l" t="t" r="r" b="b"/>
            <a:pathLst>
              <a:path w="2835357" h="1480837" extrusionOk="0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8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8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name="adj" fmla="val 50000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7" name="Google Shape;487;p38"/>
          <p:cNvGraphicFramePr/>
          <p:nvPr/>
        </p:nvGraphicFramePr>
        <p:xfrm>
          <a:off x="68856" y="17077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3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5.10</a:t>
                      </a:r>
                      <a:endParaRPr/>
                    </a:p>
                  </a:txBody>
                  <a:tcPr marL="0" marR="12495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 användarnamn</a:t>
                      </a:r>
                      <a:endParaRPr/>
                    </a:p>
                  </a:txBody>
                  <a:tcPr marL="0" marR="12495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Username t ex: ARSENIY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måste logga in på Snowflake som dig</a:t>
                      </a:r>
                      <a:endParaRPr/>
                    </a:p>
                  </a:txBody>
                  <a:tcPr marL="0" marR="124950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Åtkomst nekad – "Access denied"</a:t>
                      </a:r>
                      <a:endParaRPr/>
                    </a:p>
                  </a:txBody>
                  <a:tcPr marL="0" marR="749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5.11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 lösenord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Password: Ditt Snowflake-lösenord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måste autentisera sig mot Snowflake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Åtkomst nekad – "Invalid password"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5.12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 anslutning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"Test connection" → vänta på "Success"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att alla uppgifter är korrekta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får först reda på fel när du försöker köra dbt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5.13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anslutning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"Save" → "Set up a repository"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dina Snowflake-uppgifter så att dbt kommer ihåg dem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skriva in dem varje gång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5.14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repository-typ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"Managed"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skapar ett Git-repository åt dig automatiskt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måste skapa ett GitHub-konto (extra jobb)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Namnge repository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 insider_threat_dbt_repo → klicka "Set up a repository"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Detta är var din dbt-kod sparas (versionshantering)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kan inte spara dina ändringar – risk att förlora arbete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Vänta på bekräftelse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 "Success – Your project is ready"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Repositoryt är skapat och kopplat till ditt projekt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Projektskapandet är inte klart – du kan inte gå vidare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Studio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"Start developing in the Studio"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Studio är dbt:s utvecklingsmiljö (IDE) där du skriver SQL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kan inte skapa dina transformations-modeller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Initiera projekt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"Initialize dbt project" (uppe till höger)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Skapar alla nödvändiga mappar och filer (models/, dbt_project.yml, etc.)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har ingen mappstruktur – du vet inte var du ska skriva din kod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5.19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Vänta på filer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ser: dbt_project.yml, models/, seeds/, tests/, macros/, snapshots/, .gitignore, README.md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att projektet är korrekt initierat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Projektet är tomt – inget att arbeta med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2495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första commit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"Version Control" → skriv "initial commit" → klicka "Commit and sync"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en första version av ditt projekt (som "spara" i Word)</a:t>
                      </a:r>
                      <a:endParaRPr/>
                    </a:p>
                  </a:txBody>
                  <a:tcPr marL="0" marR="1249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ändringar du gör är osparade – du kan förlora dem</a:t>
                      </a:r>
                      <a:endParaRPr/>
                    </a:p>
                  </a:txBody>
                  <a:tcPr marL="0" marR="74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9"/>
          <p:cNvSpPr txBox="1"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sv-SE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Checklista – Steg 5 är klart när:</a:t>
            </a:r>
            <a:endParaRPr/>
          </a:p>
        </p:txBody>
      </p:sp>
      <p:grpSp>
        <p:nvGrpSpPr>
          <p:cNvPr id="494" name="Google Shape;494;p39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495" name="Google Shape;495;p39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496" name="Google Shape;496;p39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p39"/>
          <p:cNvSpPr/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8" name="Google Shape;498;p39"/>
          <p:cNvGraphicFramePr/>
          <p:nvPr/>
        </p:nvGraphicFramePr>
        <p:xfrm>
          <a:off x="5640572" y="89776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{F9D133F2-2C71-4767-A39D-88F58E4C8B90}</a:tableStyleId>
              </a:tblPr>
              <a:tblGrid>
                <a:gridCol w="41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Kontroll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✅ Klart?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162625" marT="101650" marB="1016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Du har ett dbt Cloud-konto (gratis)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dbt är ansluten till Snowflake (grönt "Success")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Du har skapat ett managed repository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Du har klickat "Initialize dbt project"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8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Du ser mapparna models/, seeds/, tests/ i vänster sidofält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Filen dbt_project.yml finns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Du har gjort din första commit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575" marR="162625" marT="101650" marB="101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/>
                        <a:t>☐</a:t>
                      </a:r>
                      <a:endParaRPr sz="1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62625" marR="97575" marT="101650" marB="1016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0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0"/>
          <p:cNvSpPr txBox="1"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sv-SE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Så här ser det ut i dbt Cloud IDE:</a:t>
            </a:r>
            <a:endParaRPr/>
          </a:p>
        </p:txBody>
      </p:sp>
      <p:grpSp>
        <p:nvGrpSpPr>
          <p:cNvPr id="505" name="Google Shape;505;p40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506" name="Google Shape;506;p40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507" name="Google Shape;507;p40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8" name="Google Shape;508;p40"/>
          <p:cNvSpPr/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9" name="Google Shape;509;p40"/>
          <p:cNvGraphicFramePr/>
          <p:nvPr/>
        </p:nvGraphicFramePr>
        <p:xfrm>
          <a:off x="4730150" y="112143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78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</a:t>
                      </a:r>
                      <a:endParaRPr/>
                    </a:p>
                  </a:txBody>
                  <a:tcPr marL="72625" marR="51875" marT="103750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72625" marR="51875" marT="103750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du ser</a:t>
                      </a:r>
                      <a:endParaRPr/>
                    </a:p>
                  </a:txBody>
                  <a:tcPr marL="72625" marR="51875" marT="103750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Mappstruktur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Vänstra sidofältet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models/ (här skapar du SQL-modeller), seeds/ (för CSV-filer), tests/ (för att testa)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dbt_project.yml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Roten av projektet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Huvudkonfigurationsfilen – titta men ändra inget än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SQL-editor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Mitten av skärmen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Här skriver du SELECT ... FROM ... för att transformera data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Versionskontroll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Flik till vänster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Här ser du ändrade filer och gör commits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Kommando-rad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Längst ner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Här skriver du dbt run för att köra dina transformationer</a:t>
                      </a:r>
                      <a:endParaRPr/>
                    </a:p>
                  </a:txBody>
                  <a:tcPr marL="72625" marR="51875" marT="108075" marB="103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1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1"/>
          <p:cNvSpPr txBox="1"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sv-SE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 tips</a:t>
            </a:r>
            <a:endParaRPr/>
          </a:p>
        </p:txBody>
      </p:sp>
      <p:grpSp>
        <p:nvGrpSpPr>
          <p:cNvPr id="516" name="Google Shape;516;p41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517" name="Google Shape;517;p41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518" name="Google Shape;518;p41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9" name="Google Shape;519;p41"/>
          <p:cNvSpPr/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0" name="Google Shape;520;p41"/>
          <p:cNvGraphicFramePr/>
          <p:nvPr/>
        </p:nvGraphicFramePr>
        <p:xfrm>
          <a:off x="4615132" y="127958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27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commits ofta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Efter varje ändring – klicka "Commit and sync". Det är som "Save" i Word.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Cloud vs dbt Core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använder Cloud (webbaserat) – inget att installera. Core kräver terminal och är svårare.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Felmeddelanden är normalt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du initierar projektet kan du se "Cannot open file" – det försvinner när projektet är klart.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 Snowflake Compute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du är klar för dagen – gå till Snowflake → Compute → COMPUTE_WH → "Suspend" (sparar krediter)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Kolla din trial-period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har 13 dagar kvar på dbt Starter trial – det räcker för hela projektet.</a:t>
                      </a:r>
                      <a:endParaRPr/>
                    </a:p>
                  </a:txBody>
                  <a:tcPr marL="0" marR="53025" marT="21200" marB="15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2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2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lang="sv-SE" sz="4100"/>
              <a:t>dbt är HELT gratis för dig – du behöver INTE göra något när trial-perioden tar slut</a:t>
            </a:r>
            <a:endParaRPr sz="4100"/>
          </a:p>
        </p:txBody>
      </p:sp>
      <p:sp>
        <p:nvSpPr>
          <p:cNvPr id="527" name="Google Shape;527;p42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2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9" name="Google Shape;529;p42"/>
          <p:cNvGraphicFramePr/>
          <p:nvPr/>
        </p:nvGraphicFramePr>
        <p:xfrm>
          <a:off x="-2923" y="219705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235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betala?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Nej! Developer plan är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helt gratis</a:t>
                      </a: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för en ensam utvecklare 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registrera nytt konto?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Nej! Du behåller samma konto – det byter bara plan automatiskt 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fylla i betalkort?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Nej! Developer plan kräver inget betalkort 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Förlorar jag mitt arbete?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Nej! Alla dina projekt, modeller och inställningar sparas 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fortsätta efter 13 dagar?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Ja! Du kan använda dbt gratis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 alltid</a:t>
                      </a: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30" name="Google Shape;530;p42" descr="En bild som visar text, skärmbild, diagram, Teckensnit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8617" y="2776269"/>
            <a:ext cx="5486073" cy="2897741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2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3"/>
          <p:cNvSpPr txBox="1"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Play"/>
              <a:buNone/>
            </a:pPr>
            <a:r>
              <a:rPr lang="sv-SE" sz="5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Skillnad mellan planerna (för dig som ensam användare):</a:t>
            </a:r>
            <a:endParaRPr/>
          </a:p>
        </p:txBody>
      </p:sp>
      <p:grpSp>
        <p:nvGrpSpPr>
          <p:cNvPr id="538" name="Google Shape;538;p43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539" name="Google Shape;539;p43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540" name="Google Shape;540;p43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1" name="Google Shape;541;p43"/>
          <p:cNvSpPr/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42" name="Google Shape;542;p43"/>
          <p:cNvGraphicFramePr/>
          <p:nvPr/>
        </p:nvGraphicFramePr>
        <p:xfrm>
          <a:off x="5049864" y="103322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{25F86503-6E0D-4DD9-AA6D-76ADF8D03297}</a:tableStyleId>
              </a:tblPr>
              <a:tblGrid>
                <a:gridCol w="226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21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sv-SE" sz="2600" b="1" u="none" strike="noStrike" cap="none">
                          <a:solidFill>
                            <a:schemeClr val="dk1"/>
                          </a:solidFill>
                        </a:rPr>
                        <a:t>Funktion</a:t>
                      </a:r>
                      <a:endParaRPr sz="26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21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sv-SE" sz="2600" b="1" u="none" strike="noStrike" cap="none">
                          <a:solidFill>
                            <a:schemeClr val="dk1"/>
                          </a:solidFill>
                        </a:rPr>
                        <a:t>Starter (trial)</a:t>
                      </a:r>
                      <a:endParaRPr sz="26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21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sv-SE" sz="2600" b="1" u="none" strike="noStrike" cap="none">
                          <a:solidFill>
                            <a:schemeClr val="dk1"/>
                          </a:solidFill>
                        </a:rPr>
                        <a:t>Developer (gratis)</a:t>
                      </a:r>
                      <a:endParaRPr sz="26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Kostnad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Gratis i 14 dagar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Gratis för alltid</a:t>
                      </a:r>
                      <a:r>
                        <a:rPr lang="sv-SE" sz="2000" b="0" u="none" strike="noStrike" cap="none"/>
                        <a:t>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Antal användare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Upp till 5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1 (du)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Projekt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Obegränsat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1 projekt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IDE (Studio)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dbt run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Job scheduling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✅ Ja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Modeller per månad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6850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15 000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144725" marT="90450" marB="904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3 000 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4725" marR="86850" marT="90450" marB="904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43" name="Google Shape;543;p43"/>
          <p:cNvSpPr txBox="1"/>
          <p:nvPr/>
        </p:nvSpPr>
        <p:spPr>
          <a:xfrm>
            <a:off x="129153" y="5314627"/>
            <a:ext cx="463657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 i="0" u="none" strike="noStrike" cap="none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För vår projekt:</a:t>
            </a:r>
            <a:r>
              <a:rPr lang="sv-SE" sz="1800" b="0" i="0" u="none" strike="noStrike" cap="none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3 000 modeller per månad är </a:t>
            </a:r>
            <a:r>
              <a:rPr lang="sv-SE" sz="1800" b="1" i="0" u="none" strike="noStrike" cap="none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långt mer än du behöver</a:t>
            </a:r>
            <a:r>
              <a:rPr lang="sv-SE" sz="1800" b="0" i="0" u="none" strike="noStrike" cap="none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! Du kommer bara att skapa 3-5 modeller totalt.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4"/>
          <p:cNvSpPr txBox="1">
            <a:spLocks noGrp="1"/>
          </p:cNvSpPr>
          <p:nvPr>
            <p:ph type="title"/>
          </p:nvPr>
        </p:nvSpPr>
        <p:spPr>
          <a:xfrm>
            <a:off x="1113810" y="2986546"/>
            <a:ext cx="2383182" cy="236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sv-SE" sz="5400">
                <a:latin typeface="Play"/>
                <a:ea typeface="Play"/>
                <a:cs typeface="Play"/>
                <a:sym typeface="Play"/>
              </a:rPr>
              <a:t>Vanliga </a:t>
            </a:r>
            <a:br>
              <a:rPr lang="sv-SE" sz="5400"/>
            </a:br>
            <a:r>
              <a:rPr lang="sv-SE" sz="5400">
                <a:latin typeface="Play"/>
                <a:ea typeface="Play"/>
                <a:cs typeface="Play"/>
                <a:sym typeface="Play"/>
              </a:rPr>
              <a:t>frågor</a:t>
            </a:r>
            <a:endParaRPr sz="5400"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550" name="Google Shape;550;p44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551" name="Google Shape;551;p44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4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4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4" name="Google Shape;554;p44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6" name="Google Shape;556;p44"/>
          <p:cNvGraphicFramePr/>
          <p:nvPr/>
        </p:nvGraphicFramePr>
        <p:xfrm>
          <a:off x="4184542" y="619932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{0F4F30DF-796E-4B71-B604-BF9DE2107E0F}</a:tableStyleId>
              </a:tblPr>
              <a:tblGrid>
                <a:gridCol w="22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betala för dbt?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Nej, du använder gratis trial-perioden som räcker för projektet.</a:t>
                      </a:r>
                      <a:endParaRPr/>
                    </a:p>
                  </a:txBody>
                  <a:tcPr marL="105475" marR="81150" marT="81150" marB="811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använda GitHub istället för Managed?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Ja, men Managed är enklast för nybörjare – inget extra konto behövs.</a:t>
                      </a:r>
                      <a:endParaRPr/>
                    </a:p>
                  </a:txBody>
                  <a:tcPr marL="105475" marR="811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en "model" i dbt?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model är en .sql-fil med en SELECT-fråga som skapar en ny tabell eller vy. I Steg 6 skapar du flera sådana.</a:t>
                      </a:r>
                      <a:endParaRPr/>
                    </a:p>
                  </a:txBody>
                  <a:tcPr marL="105475" marR="81150" marT="81150" marB="811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ser jag ett felmeddelande om 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dbt_project.yml</a:t>
                      </a: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 är normalt innan du initierat projektet. Efter "Initialize dbt project" försvinner det.</a:t>
                      </a:r>
                      <a:endParaRPr/>
                    </a:p>
                  </a:txBody>
                  <a:tcPr marL="105475" marR="811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nästa steg?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475" marR="135250" marT="81150" marB="811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 6 – skapa dbt-modeller för feature engineering (t.ex. login_attempts.sql, file_access.sql).</a:t>
                      </a:r>
                      <a:endParaRPr/>
                    </a:p>
                  </a:txBody>
                  <a:tcPr marL="105475" marR="81150" marT="81150" marB="8115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5"/>
          <p:cNvSpPr txBox="1">
            <a:spLocks noGrp="1"/>
          </p:cNvSpPr>
          <p:nvPr>
            <p:ph type="title"/>
          </p:nvPr>
        </p:nvSpPr>
        <p:spPr>
          <a:xfrm>
            <a:off x="5508" y="2100408"/>
            <a:ext cx="4171994" cy="267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</a:pPr>
            <a:r>
              <a:rPr lang="sv-SE" sz="47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Sammanfattning – så här är det med alla dina verktyg:</a:t>
            </a:r>
            <a:endParaRPr/>
          </a:p>
        </p:txBody>
      </p:sp>
      <p:grpSp>
        <p:nvGrpSpPr>
          <p:cNvPr id="563" name="Google Shape;563;p45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564" name="Google Shape;564;p45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565" name="Google Shape;565;p45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6" name="Google Shape;566;p45"/>
          <p:cNvSpPr/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7" name="Google Shape;567;p45"/>
          <p:cNvGraphicFramePr/>
          <p:nvPr/>
        </p:nvGraphicFramePr>
        <p:xfrm>
          <a:off x="4623661" y="1588575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chemeClr val="lt1"/>
                </a:solidFill>
                <a:tableStyleId>{0F4F30DF-796E-4B71-B604-BF9DE2107E0F}</a:tableStyleId>
              </a:tblPr>
              <a:tblGrid>
                <a:gridCol w="156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Verktyg</a:t>
                      </a:r>
                      <a:endParaRPr/>
                    </a:p>
                  </a:txBody>
                  <a:tcPr marL="132375" marR="169700" marT="101825" marB="1018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Gratisversion</a:t>
                      </a:r>
                      <a:endParaRPr/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du göra något efter trial?</a:t>
                      </a:r>
                      <a:endParaRPr/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0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2375" marR="169700" marT="101825" marB="1018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30-dagars trial</a:t>
                      </a:r>
                      <a:endParaRPr/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skapa nytt konto (samma eller ny e-post) när 30 dagar är slut</a:t>
                      </a:r>
                      <a:endParaRPr/>
                    </a:p>
                  </a:txBody>
                  <a:tcPr marL="132375" marR="101825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Developer plan – gratis för alltid </a:t>
                      </a:r>
                      <a:endParaRPr/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fortsätter automatiskt gratis</a:t>
                      </a:r>
                      <a:endParaRPr/>
                    </a:p>
                  </a:txBody>
                  <a:tcPr marL="132375" marR="101825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2375" marR="169700" marT="101825" marB="1018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Community Edition – gratis för alltid</a:t>
                      </a:r>
                      <a:endParaRPr/>
                    </a:p>
                  </a:txBody>
                  <a:tcPr marL="132375" marR="169700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ingen tidsgräns</a:t>
                      </a:r>
                      <a:endParaRPr/>
                    </a:p>
                  </a:txBody>
                  <a:tcPr marL="132375" marR="101825" marT="101825" marB="10182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6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6"/>
          <p:cNvSpPr txBox="1"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sv-SE" sz="5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När Steg 5 är klart</a:t>
            </a:r>
            <a:endParaRPr/>
          </a:p>
        </p:txBody>
      </p:sp>
      <p:grpSp>
        <p:nvGrpSpPr>
          <p:cNvPr id="574" name="Google Shape;574;p46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575" name="Google Shape;575;p46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6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8" name="Google Shape;578;p46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6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p46" descr="En bild som visar text, skärmbild, Teckensnitt, linje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06865" y="-9007"/>
            <a:ext cx="2567254" cy="6846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7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6" name="Google Shape;586;p47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587" name="Google Shape;587;p4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9" name="Google Shape;589;p47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90" name="Google Shape;590;p47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7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7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Google Shape;597;p47"/>
          <p:cNvSpPr txBox="1">
            <a:spLocks noGrp="1"/>
          </p:cNvSpPr>
          <p:nvPr>
            <p:ph type="title"/>
          </p:nvPr>
        </p:nvSpPr>
        <p:spPr>
          <a:xfrm>
            <a:off x="786384" y="576072"/>
            <a:ext cx="5430250" cy="2751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Steg 6: Skapa dbt-modeller för feature engineering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8" name="Google Shape;598;p47"/>
          <p:cNvSpPr txBox="1">
            <a:spLocks noGrp="1"/>
          </p:cNvSpPr>
          <p:nvPr>
            <p:ph type="body" idx="1"/>
          </p:nvPr>
        </p:nvSpPr>
        <p:spPr>
          <a:xfrm>
            <a:off x="5846066" y="576072"/>
            <a:ext cx="6254687" cy="275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Char char="•"/>
            </a:pP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I Steg 6 skapar du </a:t>
            </a: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dbt-modeller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– SQL-filer som transformerar din rådata till </a:t>
            </a: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features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(egenskaper) som din ML-modell kan använda för att upptäcka insiderhot.</a:t>
            </a:r>
            <a:endParaRPr sz="18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800"/>
              <a:buChar char="•"/>
            </a:pP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Enkelt förklarat: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Du gör om rådata (som är svår att förstå) till tydliga mönster som en maskin kan lära sig från.</a:t>
            </a:r>
            <a:endParaRPr sz="1800"/>
          </a:p>
        </p:txBody>
      </p:sp>
      <p:pic>
        <p:nvPicPr>
          <p:cNvPr id="599" name="Google Shape;599;p47" descr="En bild som visar text, Teckensnitt, skärmbild, diagram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65072"/>
            <a:ext cx="12192000" cy="1388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8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8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8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8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Vilka modeller ska du skapa</a:t>
            </a:r>
            <a:r>
              <a:rPr lang="sv-SE" sz="3700">
                <a:solidFill>
                  <a:srgbClr val="FFFFFF"/>
                </a:solidFill>
              </a:rPr>
              <a:t>?</a:t>
            </a:r>
            <a:endParaRPr sz="37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609" name="Google Shape;609;p48"/>
          <p:cNvGraphicFramePr/>
          <p:nvPr/>
        </p:nvGraphicFramePr>
        <p:xfrm>
          <a:off x="24983" y="1642672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C0E4F5"/>
                </a:solidFill>
                <a:tableStyleId>{0F4F30DF-796E-4B71-B604-BF9DE2107E0F}</a:tableStyleId>
              </a:tblPr>
              <a:tblGrid>
                <a:gridCol w="275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MODELL-FIL</a:t>
                      </a:r>
                      <a:endParaRPr/>
                    </a:p>
                  </a:txBody>
                  <a:tcPr marL="172175" marR="172175" marT="172175" marB="172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DEN GÖR</a:t>
                      </a:r>
                      <a:endParaRPr/>
                    </a:p>
                  </a:txBody>
                  <a:tcPr marL="172175" marR="172175" marT="172175" marB="172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BEHÖVS DEN?</a:t>
                      </a:r>
                      <a:endParaRPr/>
                    </a:p>
                  </a:txBody>
                  <a:tcPr marL="172175" marR="172175" marT="172175" marB="172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RADER EFTER</a:t>
                      </a:r>
                      <a:endParaRPr/>
                    </a:p>
                  </a:txBody>
                  <a:tcPr marL="172175" marR="172175" marT="172175" marB="172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sources.yml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4775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Berättar för dbt var rådatan finns i Snowflake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Utan denna vet dbt inte var din data är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</a:t>
                      </a:r>
                      <a:endParaRPr/>
                    </a:p>
                  </a:txBody>
                  <a:tcPr marL="191300" marR="114775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stg_raw_logs.sql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4775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Rensar och standardiserar rådatan (EN staging-modell)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Skapar en återanvändbar, ren version av datan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</a:t>
                      </a:r>
                      <a:endParaRPr/>
                    </a:p>
                  </a:txBody>
                  <a:tcPr marL="191300" marR="114775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fct_features.sql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4775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Skapar färdiga features för ML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Huvudtabellen som din ML-modell använder</a:t>
                      </a:r>
                      <a:endParaRPr/>
                    </a:p>
                  </a:txBody>
                  <a:tcPr marL="191300" marR="191300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</a:t>
                      </a:r>
                      <a:endParaRPr/>
                    </a:p>
                  </a:txBody>
                  <a:tcPr marL="191300" marR="114775" marT="119550" marB="114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9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9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9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9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9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9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Varför bara EN staging-modell?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621" name="Google Shape;621;p49"/>
          <p:cNvSpPr txBox="1">
            <a:spLocks noGrp="1"/>
          </p:cNvSpPr>
          <p:nvPr>
            <p:ph type="body" idx="1"/>
          </p:nvPr>
        </p:nvSpPr>
        <p:spPr>
          <a:xfrm>
            <a:off x="4581727" y="649480"/>
            <a:ext cx="3025303" cy="554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✅ Undviker CROSS JOIN (som ger miljarder rader)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✅ Enklare för nybörjare att förstå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✅ Fortfarande industri-standard för mindre projekt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✅ Snabbare att köra och felsöka</a:t>
            </a:r>
            <a:endParaRPr sz="2000"/>
          </a:p>
        </p:txBody>
      </p:sp>
      <p:pic>
        <p:nvPicPr>
          <p:cNvPr id="622" name="Google Shape;622;p49" descr="En bild som visar text, skärmbild, Teckensnitt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2989" y="-7280"/>
            <a:ext cx="3206014" cy="6871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0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0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0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0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0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Mappstruktur efter Steg 6</a:t>
            </a:r>
            <a:endParaRPr/>
          </a:p>
        </p:txBody>
      </p:sp>
      <p:pic>
        <p:nvPicPr>
          <p:cNvPr id="633" name="Google Shape;633;p50" descr="En bild som visar text, diagram, linje, skärmbild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42602" y="377759"/>
            <a:ext cx="8145401" cy="6115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1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1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1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1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6: Komplett tabell</a:t>
            </a:r>
            <a:endParaRPr/>
          </a:p>
        </p:txBody>
      </p:sp>
      <p:graphicFrame>
        <p:nvGraphicFramePr>
          <p:cNvPr id="643" name="Google Shape;643;p51"/>
          <p:cNvGraphicFramePr/>
          <p:nvPr/>
        </p:nvGraphicFramePr>
        <p:xfrm>
          <a:off x="12491" y="130539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1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4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EXAKT INSTRUKTION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BEHÖVS DETTA?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dbt Cloud IDE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Cloud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 </a:t>
                      </a: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"Studio"</a:t>
                      </a: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i vänstermenyn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Här skapar du dina modeller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6.2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 bort exempelmappen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Vänster sidofält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på models/example → </a:t>
                      </a: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"Delete"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Exempelfilerna är bara för demo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6.3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 staging-mapp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på models → "Create folder"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staging → klicka "Create"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Håller dina modeller organiserade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6.4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 sources.yml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på models → "Create file"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sources.yml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Berättar för dbt var rådatan finns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6.5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YAML-kod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 sources.yml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koden från tabellen "Kod för sources.yml"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får veta databas, schema och tabellnamn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6.6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 sources.yml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Ctrl+S (Windows) / Cmd+S (Mac)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"Save"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din konfiguration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6.7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 stg_raw_logs.sql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på staging → "Create file"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stg_raw_logs.sql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Första och enda staging-modellen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6.8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SQL-kod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den nya filen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koden från tabellen "Kod för stg_raw_logs.sql"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Rensar och standardiserar rådatan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6.9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filen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Ctrl+S / Cmd+S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"Save"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dina ändringar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6.10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 fct_features.sql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på models → "Create file"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fct_features.sql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Huvudmodell för ML-features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6.11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SQL-kod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den nya filen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koden från tabellen "Kod för fct_features.sql"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Skapar färdiga features för ML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6.12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filen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Ctrl+S / Cmd+S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"Save"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dina ändringar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5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6.13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att alla filer är sparade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Vänster sidofält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ser: sources.yml, staging/stg_raw_logs.sql, fct_features.sql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filer är på plats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6.14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commit (valfritt)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Control → "Commit and sync"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added staging and fct models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sv-SE" sz="13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en version av ditt arbete</a:t>
                      </a:r>
                      <a:endParaRPr/>
                    </a:p>
                  </a:txBody>
                  <a:tcPr marL="0" marR="75800" marT="758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2"/>
          <p:cNvSpPr txBox="1">
            <a:spLocks noGrp="1"/>
          </p:cNvSpPr>
          <p:nvPr>
            <p:ph type="title"/>
          </p:nvPr>
        </p:nvSpPr>
        <p:spPr>
          <a:xfrm>
            <a:off x="232348" y="127781"/>
            <a:ext cx="10515600" cy="131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Fil 1: models/sources.yml</a:t>
            </a:r>
            <a:endParaRPr/>
          </a:p>
        </p:txBody>
      </p:sp>
      <p:sp>
        <p:nvSpPr>
          <p:cNvPr id="649" name="Google Shape;649;p52"/>
          <p:cNvSpPr txBox="1">
            <a:spLocks noGrp="1"/>
          </p:cNvSpPr>
          <p:nvPr>
            <p:ph type="body" idx="1"/>
          </p:nvPr>
        </p:nvSpPr>
        <p:spPr>
          <a:xfrm>
            <a:off x="332283" y="1719446"/>
            <a:ext cx="11845974" cy="5019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6B01"/>
              </a:buClr>
              <a:buSzPts val="1800"/>
              <a:buNone/>
            </a:pP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version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sources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snowflake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"Snowflake-databasen där vår rådata finns"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database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INSIDER_THREAT_DB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schema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PUBLIC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tables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RAW_ACCESS_LOGS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"Rådata från Medical Internal Attack Detection dataset (4 000 rader)"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columns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attack_type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"Målvariabel – typ av insiderhot"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num_failed_logins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"Antal misslyckade inloggningsförsök"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flag</a:t>
            </a:r>
            <a:b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v-SE" sz="18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lang="sv-SE" sz="18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sv-SE" sz="18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8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"Statusflagga (SF=normal, REJ=avvisad, S0=fel)"</a:t>
            </a:r>
            <a:endParaRPr sz="1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/>
          <p:cNvSpPr txBox="1">
            <a:spLocks noGrp="1"/>
          </p:cNvSpPr>
          <p:nvPr>
            <p:ph type="title"/>
          </p:nvPr>
        </p:nvSpPr>
        <p:spPr>
          <a:xfrm>
            <a:off x="169889" y="2863"/>
            <a:ext cx="10515600" cy="619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sv-SE"/>
              <a:t>Fil 2: models/staging/stg_raw_logs.sql</a:t>
            </a:r>
            <a:endParaRPr/>
          </a:p>
        </p:txBody>
      </p:sp>
      <p:sp>
        <p:nvSpPr>
          <p:cNvPr id="655" name="Google Shape;655;p53"/>
          <p:cNvSpPr txBox="1">
            <a:spLocks noGrp="1"/>
          </p:cNvSpPr>
          <p:nvPr>
            <p:ph type="body" idx="1"/>
          </p:nvPr>
        </p:nvSpPr>
        <p:spPr>
          <a:xfrm>
            <a:off x="1251" y="695118"/>
            <a:ext cx="12183251" cy="615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0A1A7"/>
              </a:buClr>
              <a:buSzPts val="1100"/>
              <a:buNone/>
            </a:pP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STAGING MODELL: Rensar och standardiserar rådata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Syfte: Förbereda rådata för ML-modellen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Källa: INSIDER_THREAT_DB.PUBLIC.RAW_ACCESS_LOGS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Antal rader: 4 000 (oförändrat)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SKAPA UNIK IDENTIFIERARE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CONCAT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protocol_type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'_'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service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user_session_id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ORIGINALKOLUMNER (behålls oförändrade)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attack_type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Målvariabel för ML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num_failed_logins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Misslyckade inloggningar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root_shell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Root-åtkomst (1=ja, 0=nej)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su_attempted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Privilegieeskaleringsförsök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num_access_files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Åtkomst till patientjournaler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num_file_creations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Skapade filer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src_bytes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Skickad data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dst_bytes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Mottagen data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duration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Sessionlängd i sekunder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same_srv_rate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Andel samma tjänst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diff_srv_rate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Andel olika tjänster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flag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Statusflagga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logged_in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Inloggningsstatus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BERÄKNADE FÄLT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flag </a:t>
            </a:r>
            <a:r>
              <a:rPr lang="sv-SE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'REJ'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'S0'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'high_risk'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flag </a:t>
            </a:r>
            <a:r>
              <a:rPr lang="sv-SE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'SF'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'normal'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'unknown'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risk_category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METADATA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CURRENT_TIMESTAMP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processed_at</a:t>
            </a: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{{ source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'snowflake'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'RAW_ACCESS_LOGS'</a:t>
            </a:r>
            <a:r>
              <a:rPr lang="sv-SE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}}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4"/>
          <p:cNvSpPr txBox="1">
            <a:spLocks noGrp="1"/>
          </p:cNvSpPr>
          <p:nvPr>
            <p:ph type="title"/>
          </p:nvPr>
        </p:nvSpPr>
        <p:spPr>
          <a:xfrm>
            <a:off x="157397" y="9109"/>
            <a:ext cx="10515600" cy="526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sv-SE" sz="4000"/>
              <a:t>Fil 3: models/fct_features.sql</a:t>
            </a:r>
            <a:endParaRPr sz="4000"/>
          </a:p>
        </p:txBody>
      </p:sp>
      <p:sp>
        <p:nvSpPr>
          <p:cNvPr id="661" name="Google Shape;661;p54"/>
          <p:cNvSpPr txBox="1">
            <a:spLocks noGrp="1"/>
          </p:cNvSpPr>
          <p:nvPr>
            <p:ph type="body" idx="1"/>
          </p:nvPr>
        </p:nvSpPr>
        <p:spPr>
          <a:xfrm>
            <a:off x="1252" y="545216"/>
            <a:ext cx="12183251" cy="630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0A1A7"/>
              </a:buClr>
              <a:buSzPts val="1050"/>
              <a:buNone/>
            </a:pP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HUVUDMODELL FÖR ML: Features för Insider Threat Detection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Syfte: Skapa färdig feature-tabell för maskininlärning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Källa: stg_raw_logs (staging-modellen ovan)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Antal rader: 4 000 (oförändrat)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=============================================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IDENTIFIERARE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user_session_id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MÅLVARIABEL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attack_type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ORIGINALFEATURES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num_failed_logins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root_shell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su_attempted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num_access_files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num_file_creations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src_bytes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dst_bytes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duration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same_srv_rate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diff_srv_rate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flag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logged_in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risk_category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BERÄKNADE FEATURES (för ML-modellen)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num_failed_logins </a:t>
            </a:r>
            <a:r>
              <a:rPr lang="sv-SE" sz="10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root_shell </a:t>
            </a:r>
            <a:r>
              <a:rPr lang="sv-SE" sz="10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su_attempted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total_privilege_attempts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src_bytes </a:t>
            </a:r>
            <a:r>
              <a:rPr lang="sv-SE" sz="10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dst_bytes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total_bytes_transferred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 i="1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-- NUMERISK RISKSCORE (för ML-algoritmer)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flag </a:t>
            </a:r>
            <a:r>
              <a:rPr lang="sv-SE" sz="10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05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'REJ'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'S0'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flag_risk_score</a:t>
            </a: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05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{{ ref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sv-SE" sz="105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'stg_raw_logs'</a:t>
            </a:r>
            <a:r>
              <a:rPr lang="sv-SE" sz="105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sv-SE" sz="105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}}</a:t>
            </a:r>
            <a:endParaRPr sz="105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5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5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5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5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Checklista – Steg 6 är klart när:</a:t>
            </a:r>
            <a:endParaRPr/>
          </a:p>
        </p:txBody>
      </p:sp>
      <p:graphicFrame>
        <p:nvGraphicFramePr>
          <p:cNvPr id="672" name="Google Shape;672;p55"/>
          <p:cNvGraphicFramePr/>
          <p:nvPr/>
        </p:nvGraphicFramePr>
        <p:xfrm>
          <a:off x="4502428" y="829563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  <a:tableStyleId>{0F4F30DF-796E-4B71-B604-BF9DE2107E0F}</a:tableStyleId>
              </a:tblPr>
              <a:tblGrid>
                <a:gridCol w="563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</a:t>
                      </a:r>
                      <a:endParaRPr/>
                    </a:p>
                  </a:txBody>
                  <a:tcPr marL="188450" marR="188450" marT="188450" marB="188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KLART?</a:t>
                      </a:r>
                      <a:endParaRPr/>
                    </a:p>
                  </a:txBody>
                  <a:tcPr marL="188450" marR="188450" marT="188450" marB="1884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har tagit bort models/example-mappen</a:t>
                      </a:r>
                      <a:endParaRPr/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Mappen staging/ finns under models/</a:t>
                      </a:r>
                      <a:endParaRPr sz="2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Filen sources.yml finns i models/</a:t>
                      </a:r>
                      <a:endParaRPr sz="2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Filen stg_raw_logs.sql finns i models/staging/</a:t>
                      </a:r>
                      <a:endParaRPr sz="2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Filen fct_features.sql finns i models/</a:t>
                      </a:r>
                      <a:endParaRPr sz="2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filer är sparade (Ctrl+S efter varje)</a:t>
                      </a:r>
                      <a:endParaRPr/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(Valfritt) Du har gjort commit</a:t>
                      </a:r>
                      <a:endParaRPr/>
                    </a:p>
                  </a:txBody>
                  <a:tcPr marL="125625" marR="20937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09375" marR="125625" marT="130850" marB="125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6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6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6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6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 tips</a:t>
            </a:r>
            <a:endParaRPr/>
          </a:p>
        </p:txBody>
      </p:sp>
      <p:graphicFrame>
        <p:nvGraphicFramePr>
          <p:cNvPr id="683" name="Google Shape;683;p56"/>
          <p:cNvGraphicFramePr/>
          <p:nvPr/>
        </p:nvGraphicFramePr>
        <p:xfrm>
          <a:off x="4041098" y="63083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87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Börja med EN staging-modell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 räcker för ett projekt av denna storlek. Lägg till fler när du behöver återanvända logik.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vs 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 används för rådata som redan finns i Snowflake. ref används för dina egna dbt-modeller.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4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Inga JOINs i staging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Staging-modeller ska bara rensa data – inga JOINs eller summeringar. Det gör man i fct_features.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ofta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Efter varje SQL-fil – spara! (Ctrl+S). dbt sparar inte automatiskt.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 COUNT(*) efter 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att antalet rader är 4 000 – inte 78 miljarder!</a:t>
                      </a:r>
                      <a:endParaRPr/>
                    </a:p>
                  </a:txBody>
                  <a:tcPr marL="159500" marR="159500" marT="159500" marB="159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7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7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7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7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Vanliga frågor</a:t>
            </a:r>
            <a:endParaRPr/>
          </a:p>
        </p:txBody>
      </p:sp>
      <p:graphicFrame>
        <p:nvGraphicFramePr>
          <p:cNvPr id="694" name="Google Shape;694;p57"/>
          <p:cNvGraphicFramePr/>
          <p:nvPr/>
        </p:nvGraphicFramePr>
        <p:xfrm>
          <a:off x="4122295" y="13803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50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83975" marR="59975" marT="119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83975" marR="59975" marT="119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bara EN staging-modell?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har bara EN rådatatabell. En staging-modell räcker för att rensa och standardisera.</a:t>
                      </a:r>
                      <a:endParaRPr/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skillnaden på 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stg_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och 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fct_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stg = staging (rensar data). fct = fact (beräknar features för ML).</a:t>
                      </a:r>
                      <a:endParaRPr/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jag fler staging-modeller?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Nej, för ditt projekt räcker en. I större projekt kan man ha fler.</a:t>
                      </a:r>
                      <a:endParaRPr/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7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nästa steg?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 7 – köra dbt run för att skapa tabellerna i Snowflake!</a:t>
                      </a:r>
                      <a:endParaRPr/>
                    </a:p>
                  </a:txBody>
                  <a:tcPr marL="83975" marR="59975" marT="124950" marB="119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8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58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8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8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8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När Steg 6 är klart – gå vidare till Steg 7</a:t>
            </a:r>
            <a:endParaRPr/>
          </a:p>
        </p:txBody>
      </p:sp>
      <p:pic>
        <p:nvPicPr>
          <p:cNvPr id="705" name="Google Shape;705;p58" descr="En bild som visar text, skärmbild, Teckensnitt, diagram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348001" y="36242"/>
            <a:ext cx="3559585" cy="6829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9"/>
          <p:cNvSpPr txBox="1"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"/>
              <a:buNone/>
            </a:pPr>
            <a:r>
              <a:rPr lang="sv-SE" sz="3700"/>
              <a:t>Steg 7: Kör dbt-transformationer</a:t>
            </a:r>
            <a:endParaRPr sz="3700"/>
          </a:p>
        </p:txBody>
      </p:sp>
      <p:sp>
        <p:nvSpPr>
          <p:cNvPr id="712" name="Google Shape;712;p59"/>
          <p:cNvSpPr/>
          <p:nvPr/>
        </p:nvSpPr>
        <p:spPr>
          <a:xfrm rot="5400000">
            <a:off x="3566159" y="1225296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9"/>
          <p:cNvSpPr txBox="1">
            <a:spLocks noGrp="1"/>
          </p:cNvSpPr>
          <p:nvPr>
            <p:ph type="body" idx="1"/>
          </p:nvPr>
        </p:nvSpPr>
        <p:spPr>
          <a:xfrm>
            <a:off x="4654295" y="477937"/>
            <a:ext cx="7519166" cy="151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Char char="•"/>
            </a:pP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</a:rPr>
              <a:t>I Steg 7 kör du dina dbt-modeller så att de skapar tabeller (views) i Snowflake. dbt översätter din SQL-kod till riktiga databastabeller som du sedan kan använda i Databricks för maskininlärning.</a:t>
            </a:r>
            <a:endParaRPr sz="2000">
              <a:solidFill>
                <a:srgbClr val="0F1115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2000"/>
              <a:buChar char="•"/>
            </a:pPr>
            <a:r>
              <a:rPr lang="sv-SE" sz="2000" b="1">
                <a:solidFill>
                  <a:srgbClr val="0F1115"/>
                </a:solidFill>
                <a:highlight>
                  <a:srgbClr val="FFFFFF"/>
                </a:highlight>
              </a:rPr>
              <a:t>Enkelt förklarat: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</a:rPr>
              <a:t> Du trycker på "start" – dbt bygger dina features som riktiga tabeller i molnet.</a:t>
            </a:r>
            <a:endParaRPr/>
          </a:p>
        </p:txBody>
      </p:sp>
      <p:pic>
        <p:nvPicPr>
          <p:cNvPr id="714" name="Google Shape;714;p59" descr="En bild som visar text, diagram, Teckensnitt, skärmbild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94282"/>
            <a:ext cx="12192000" cy="308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60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60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60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60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7: Komplett tabell</a:t>
            </a:r>
            <a:endParaRPr/>
          </a:p>
        </p:txBody>
      </p:sp>
      <p:graphicFrame>
        <p:nvGraphicFramePr>
          <p:cNvPr id="724" name="Google Shape;724;p60"/>
          <p:cNvGraphicFramePr/>
          <p:nvPr/>
        </p:nvGraphicFramePr>
        <p:xfrm>
          <a:off x="26739" y="182044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8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200"/>
                    </a:p>
                  </a:txBody>
                  <a:tcPr marL="65350" marR="155600" marT="18675" marB="1400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 sz="1200"/>
                    </a:p>
                  </a:txBody>
                  <a:tcPr marL="65350" marR="155600" marT="18675" marB="1400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 sz="1200"/>
                    </a:p>
                  </a:txBody>
                  <a:tcPr marL="65350" marR="155600" marT="18675" marB="1400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Exakt instruktion</a:t>
                      </a:r>
                      <a:endParaRPr sz="1200"/>
                    </a:p>
                  </a:txBody>
                  <a:tcPr marL="65350" marR="155600" marT="18675" marB="1400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behövs detta?</a:t>
                      </a:r>
                      <a:endParaRPr sz="1200"/>
                    </a:p>
                  </a:txBody>
                  <a:tcPr marL="65350" marR="155600" marT="18675" marB="1400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7.1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kommandoraden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Cloud IDE (längst ner i fönstret)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fliken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"Commands"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längst ner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Här skriver du dbt-kommandon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7.2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att du är i rätt projekt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Kommandoraden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 projektnamnet i terminalen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att du är på rätt plats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7.3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 dbt run-kommandot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Kommandoraden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Skriv: dbt run och tryck Enter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Bygger ALLA dina modeller i Snowflake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7.4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Vänta medan dbt arbetar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Kommandoraden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ser meddelanden som "Running...", "Writing..."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översätter SQL till databaskommandon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resultatet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Kommandoraden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efter </a:t>
                      </a: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"Completed successfully"</a:t>
                      </a: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(grön text)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att alla modeller byggdes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5350" marR="155600" marT="18675" marB="140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antalet rader (valfritt)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 webbplats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 på Snowflake → Worksheets → kör SQL</a:t>
                      </a:r>
                      <a:endParaRPr sz="1200"/>
                    </a:p>
                  </a:txBody>
                  <a:tcPr marL="65350" marR="15560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Verifierar att du har 4 000 rader (inte miljarder!)</a:t>
                      </a:r>
                      <a:endParaRPr sz="1200"/>
                    </a:p>
                  </a:txBody>
                  <a:tcPr marL="65350" marR="93350" marT="18675" marB="140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61"/>
          <p:cNvSpPr txBox="1"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lay"/>
              <a:buNone/>
            </a:pPr>
            <a:r>
              <a:rPr lang="sv-SE" sz="5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Kommandon du kommer att använda</a:t>
            </a:r>
            <a:endParaRPr/>
          </a:p>
        </p:txBody>
      </p:sp>
      <p:sp>
        <p:nvSpPr>
          <p:cNvPr id="731" name="Google Shape;731;p61"/>
          <p:cNvSpPr/>
          <p:nvPr/>
        </p:nvSpPr>
        <p:spPr>
          <a:xfrm>
            <a:off x="3807702" y="1733454"/>
            <a:ext cx="4572000" cy="18288"/>
          </a:xfrm>
          <a:custGeom>
            <a:avLst/>
            <a:gdLst/>
            <a:ahLst/>
            <a:cxnLst/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2" name="Google Shape;732;p61"/>
          <p:cNvGraphicFramePr/>
          <p:nvPr/>
        </p:nvGraphicFramePr>
        <p:xfrm>
          <a:off x="18737" y="244214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57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Kommando</a:t>
                      </a:r>
                      <a:endParaRPr/>
                    </a:p>
                  </a:txBody>
                  <a:tcPr marL="0" marR="0" marT="9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det gör</a:t>
                      </a:r>
                      <a:endParaRPr/>
                    </a:p>
                  </a:txBody>
                  <a:tcPr marL="0" marR="0" marT="9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använder du det?</a:t>
                      </a:r>
                      <a:endParaRPr/>
                    </a:p>
                  </a:txBody>
                  <a:tcPr marL="0" marR="0" marT="9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Förväntat resultat</a:t>
                      </a:r>
                      <a:endParaRPr/>
                    </a:p>
                  </a:txBody>
                  <a:tcPr marL="0" marR="0" marT="9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Bygger ALLA dina modeller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Första gången du kör – skapar alla tabeller/views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 successfully, 2 models built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 --select fct_features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Bygger BARA huvudmodellen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du bara vill uppdatera feature-tabellen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 successfully, 1 model built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 --select staging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Bygger BARA staging-modellen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du bara vill uppdatera den rensade datan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 successfully, 1 model built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ls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Listar alla dina modeller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 att se vilka modeller som finns</a:t>
                      </a:r>
                      <a:endParaRPr/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stg_raw_logs, fct_features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036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2"/>
          <p:cNvSpPr txBox="1">
            <a:spLocks noGrp="1"/>
          </p:cNvSpPr>
          <p:nvPr>
            <p:ph type="title"/>
          </p:nvPr>
        </p:nvSpPr>
        <p:spPr>
          <a:xfrm>
            <a:off x="94938" y="365125"/>
            <a:ext cx="11258862" cy="1331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Så här ser det ut i kommandoraden </a:t>
            </a:r>
            <a:br>
              <a:rPr lang="sv-SE"/>
            </a:br>
            <a:r>
              <a:rPr lang="sv-SE"/>
              <a:t>(exempel på utskrift)</a:t>
            </a:r>
            <a:endParaRPr/>
          </a:p>
        </p:txBody>
      </p:sp>
      <p:sp>
        <p:nvSpPr>
          <p:cNvPr id="738" name="Google Shape;738;p62"/>
          <p:cNvSpPr txBox="1">
            <a:spLocks noGrp="1"/>
          </p:cNvSpPr>
          <p:nvPr>
            <p:ph type="body" idx="1"/>
          </p:nvPr>
        </p:nvSpPr>
        <p:spPr>
          <a:xfrm>
            <a:off x="101184" y="1825625"/>
            <a:ext cx="1207707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Char char="•"/>
            </a:pP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$ dbt run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Running with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dbt=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1.8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.0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Found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models,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tests,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snapshots,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analyses,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macros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Concurrency: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threads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of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START sql view model dbt_ab.stg_raw_logs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................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of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OK created sql view model dbt_ab.stg_raw_logs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........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SUCCESS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.9s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of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START sql view model dbt_ab.fct_features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................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of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OK created sql view model dbt_ab.fct_features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..........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SUCCESS 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.34s</a:t>
            </a:r>
            <a:r>
              <a:rPr lang="sv-SE" sz="2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Completed successfully</a:t>
            </a: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Done.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PASS=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WARN=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ERROR=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SKIP=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sv-SE" sz="2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v-SE" sz="2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TOTAL=</a:t>
            </a:r>
            <a:r>
              <a:rPr lang="sv-SE" sz="2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20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63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63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3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3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Vad betyder utskriften?</a:t>
            </a:r>
            <a:endParaRPr/>
          </a:p>
        </p:txBody>
      </p:sp>
      <p:graphicFrame>
        <p:nvGraphicFramePr>
          <p:cNvPr id="748" name="Google Shape;748;p63"/>
          <p:cNvGraphicFramePr/>
          <p:nvPr/>
        </p:nvGraphicFramePr>
        <p:xfrm>
          <a:off x="137410" y="1792573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chemeClr val="lt1"/>
                </a:solidFill>
                <a:tableStyleId>{0F4F30DF-796E-4B71-B604-BF9DE2107E0F}</a:tableStyleId>
              </a:tblPr>
              <a:tblGrid>
                <a:gridCol w="493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 av utskriften</a:t>
                      </a:r>
                      <a:endParaRPr/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Betydelse</a:t>
                      </a:r>
                      <a:endParaRPr/>
                    </a:p>
                  </a:txBody>
                  <a:tcPr marL="149975" marR="192275" marT="115350" marB="115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Found 2 models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hittade dina 2 SQL-filer (stg_raw_logs och fct_features)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of 2 START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börjar bygga första modellen (stg_raw_logs)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OK created sql view model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 skapades som en "view" (virtuell tabell)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SUCCESS 0.9s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 byggdes på 0.9 sekunder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PASS=2 WARN=0 ERROR=0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2 modeller lyckades, inga fel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 successfully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9975" marR="192275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Hela körningen var lyckad</a:t>
                      </a:r>
                      <a:endParaRPr/>
                    </a:p>
                  </a:txBody>
                  <a:tcPr marL="149975" marR="115350" marT="115350" marB="1153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64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64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64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64"/>
          <p:cNvSpPr txBox="1">
            <a:spLocks noGrp="1"/>
          </p:cNvSpPr>
          <p:nvPr>
            <p:ph type="title"/>
          </p:nvPr>
        </p:nvSpPr>
        <p:spPr>
          <a:xfrm>
            <a:off x="125091" y="248038"/>
            <a:ext cx="8025588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Kontrollera i Snowflake (valfritt steg 7.6)</a:t>
            </a:r>
            <a:endParaRPr/>
          </a:p>
        </p:txBody>
      </p:sp>
      <p:graphicFrame>
        <p:nvGraphicFramePr>
          <p:cNvPr id="758" name="Google Shape;758;p64"/>
          <p:cNvGraphicFramePr/>
          <p:nvPr/>
        </p:nvGraphicFramePr>
        <p:xfrm>
          <a:off x="131163" y="177383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9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SQL-kommando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 på Snowflake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Webbläsaren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Snowflake-URL</a:t>
                      </a:r>
                      <a:endParaRPr/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Compute-motorn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 → Compute → COMPUTE_WH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 </a:t>
                      </a: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"Resume"</a:t>
                      </a: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(om den är pausad)</a:t>
                      </a:r>
                      <a:endParaRPr/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en Worksheet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Worksheets → "+ Worksheet"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 SQL-kod</a:t>
                      </a:r>
                      <a:endParaRPr/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Byt till rätt schema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SCHEMA INSIDER_THREAT_DB.DBT_AB;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antalet rader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COUNT(*) FROM FCT_FEATURES;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9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350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de första raderna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Worksheet</a:t>
                      </a:r>
                      <a:endParaRPr/>
                    </a:p>
                  </a:txBody>
                  <a:tcPr marL="182275" marR="182275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* FROM FCT_FEATURES LIMIT 5;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275" marR="109350" marT="76550" marB="765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5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65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65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5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Förväntade resultat i Snowflake:</a:t>
            </a:r>
            <a:endParaRPr/>
          </a:p>
        </p:txBody>
      </p:sp>
      <p:graphicFrame>
        <p:nvGraphicFramePr>
          <p:cNvPr id="768" name="Google Shape;768;p65"/>
          <p:cNvGraphicFramePr/>
          <p:nvPr/>
        </p:nvGraphicFramePr>
        <p:xfrm>
          <a:off x="24983" y="251085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53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SQL-kommando</a:t>
                      </a:r>
                      <a:endParaRPr/>
                    </a:p>
                  </a:txBody>
                  <a:tcPr marL="341675" marR="205000" marT="205000" marB="205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Förväntat resultat</a:t>
                      </a:r>
                      <a:endParaRPr/>
                    </a:p>
                  </a:txBody>
                  <a:tcPr marL="341675" marR="205000" marT="205000" marB="20500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0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COUNT(*) FROM FCT_FEATURES;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1675" marR="205000" marT="205000" marB="205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</a:t>
                      </a: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(inte 78 miljarder!)</a:t>
                      </a:r>
                      <a:endParaRPr/>
                    </a:p>
                  </a:txBody>
                  <a:tcPr marL="341675" marR="205000" marT="205000" marB="20500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2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* FROM FCT_FEATURES LIMIT 5;</a:t>
                      </a:r>
                      <a:endParaRPr sz="24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1675" marR="205000" marT="205000" marB="205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rader med kolumner som ATTACK_TYPE, NUM_FAILED_LOGINS, etc.</a:t>
                      </a:r>
                      <a:endParaRPr/>
                    </a:p>
                  </a:txBody>
                  <a:tcPr marL="341675" marR="205000" marT="205000" marB="20500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66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6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66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66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Checklista – Steg 7 är klart när:</a:t>
            </a:r>
            <a:endParaRPr/>
          </a:p>
        </p:txBody>
      </p:sp>
      <p:graphicFrame>
        <p:nvGraphicFramePr>
          <p:cNvPr id="778" name="Google Shape;778;p66"/>
          <p:cNvGraphicFramePr/>
          <p:nvPr/>
        </p:nvGraphicFramePr>
        <p:xfrm>
          <a:off x="432225" y="206866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06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</a:t>
                      </a:r>
                      <a:endParaRPr/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Klart?</a:t>
                      </a:r>
                      <a:endParaRPr/>
                    </a:p>
                  </a:txBody>
                  <a:tcPr marL="230325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öppnat kommandoraden (fliken "Commands")</a:t>
                      </a:r>
                      <a:endParaRPr/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30325" marR="138200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1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kört dbt run</a:t>
                      </a:r>
                      <a:endParaRPr sz="2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30325" marR="138200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ser "Completed successfully" (grön text)</a:t>
                      </a:r>
                      <a:endParaRPr/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30325" marR="138200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1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dbt run visar PASS=2 (2 modeller lyckades)</a:t>
                      </a:r>
                      <a:endParaRPr/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30325" marR="138200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1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(Valfritt) SELECT COUNT(*) i Snowflake visar 4 000</a:t>
                      </a:r>
                      <a:endParaRPr/>
                    </a:p>
                  </a:txBody>
                  <a:tcPr marL="138200" marR="230325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230325" marR="138200" marT="143950" marB="143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7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7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67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67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Vanliga fel och lösningar</a:t>
            </a:r>
            <a:endParaRPr/>
          </a:p>
        </p:txBody>
      </p:sp>
      <p:graphicFrame>
        <p:nvGraphicFramePr>
          <p:cNvPr id="788" name="Google Shape;788;p67"/>
          <p:cNvGraphicFramePr/>
          <p:nvPr/>
        </p:nvGraphicFramePr>
        <p:xfrm>
          <a:off x="293557" y="229224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93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FELMEDDELANDE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DET BETYDER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LÖSNING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 error: Table 'RAW_ACCESS_LOGS' does not exist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hittar inte din rådata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 sources.yml – rätt databas/schema/tabellnamn?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Compilation error: source not found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hittar inte källan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att sources.yml finns i models/-mappen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Warehouse 'COMPUTE_WH' does not exist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Snowflake-motorn är inte startad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in på Snowflake → Compute → starta COMPUTE_WH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Access denied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Inloggningsproblem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Snowflake-uppgifterna i dbt-anslutningen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Syntax error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 i SQL-koden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att du klistrat in koden exakt som i Steg 6</a:t>
                      </a:r>
                      <a:endParaRPr/>
                    </a:p>
                  </a:txBody>
                  <a:tcPr marL="133675" marR="133675" marT="133675" marB="1336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8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68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8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68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 tips</a:t>
            </a:r>
            <a:endParaRPr/>
          </a:p>
        </p:txBody>
      </p:sp>
      <p:graphicFrame>
        <p:nvGraphicFramePr>
          <p:cNvPr id="798" name="Google Shape;798;p68"/>
          <p:cNvGraphicFramePr/>
          <p:nvPr/>
        </p:nvGraphicFramePr>
        <p:xfrm>
          <a:off x="99934" y="183004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8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Starta Snowflake Compute-motorn först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Innan du kör dbt run – gå till Snowflake och starta COMPUTE_WH (Resume). Annars misslyckas dbt.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 </a:t>
                      </a: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igen om det failar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är idempotent – du kan köra det flera gånger. Det förstör inte data.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bygger bara nya/ändrade modeller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Andra gången du kör går det mycket snabbare.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Kolla loggarna vid fel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skriver detaljerade felmeddelanden – scrolla upp i kommandoraden.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 Compute-motorn efteråt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du är klar med Steg 7 – gå till Snowflake och pausa COMPUTE_WH (Suspend) för att spara krediter.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Fliken "Commands" längst ner</a:t>
                      </a:r>
                      <a:endParaRPr sz="18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04775" marR="122850" marT="122850" marB="122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Om du inte ser kommandoraden – klicka på fliken "Commands" längst NER i IDE-fönstret.</a:t>
                      </a:r>
                      <a:endParaRPr/>
                    </a:p>
                  </a:txBody>
                  <a:tcPr marL="204775" marR="122850" marT="122850" marB="122850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69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69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69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69"/>
          <p:cNvSpPr txBox="1">
            <a:spLocks noGrp="1"/>
          </p:cNvSpPr>
          <p:nvPr>
            <p:ph type="title"/>
          </p:nvPr>
        </p:nvSpPr>
        <p:spPr>
          <a:xfrm>
            <a:off x="150074" y="248038"/>
            <a:ext cx="7838212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Vad händer i Snowflake efter dbt run?</a:t>
            </a:r>
            <a:endParaRPr/>
          </a:p>
        </p:txBody>
      </p:sp>
      <p:graphicFrame>
        <p:nvGraphicFramePr>
          <p:cNvPr id="808" name="Google Shape;808;p69"/>
          <p:cNvGraphicFramePr/>
          <p:nvPr/>
        </p:nvGraphicFramePr>
        <p:xfrm>
          <a:off x="424721" y="196745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42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7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Tabell/View</a:t>
                      </a:r>
                      <a:endParaRPr/>
                    </a:p>
                  </a:txBody>
                  <a:tcPr marL="388200" marR="232925" marT="232925" marB="232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rader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den innehåller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6B68">
                        <a:alpha val="6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STG_RAW_LOGS</a:t>
                      </a:r>
                      <a:endParaRPr sz="27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8200" marR="232925" marT="232925" marB="232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Rensad och standardiserad rådata</a:t>
                      </a:r>
                      <a:endParaRPr/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0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FCT_FEATURES</a:t>
                      </a:r>
                      <a:endParaRPr sz="27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8200" marR="232925" marT="232925" marB="232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</a:t>
                      </a:r>
                      <a:endParaRPr sz="27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4 000</a:t>
                      </a:r>
                      <a:endParaRPr sz="27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700"/>
                        <a:buFont typeface="Arial"/>
                        <a:buNone/>
                      </a:pPr>
                      <a:r>
                        <a:rPr lang="sv-SE" sz="2700" b="1" u="none" strike="noStrike" cap="non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features + attack_type – redo för ML!</a:t>
                      </a:r>
                      <a:endParaRPr sz="2700" b="0" u="none" strike="noStrike" cap="non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88200" marR="232925" marT="232925" marB="232925" anchor="ctr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70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70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70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70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Vanliga frågor</a:t>
            </a:r>
            <a:endParaRPr/>
          </a:p>
        </p:txBody>
      </p:sp>
      <p:graphicFrame>
        <p:nvGraphicFramePr>
          <p:cNvPr id="818" name="Google Shape;818;p70"/>
          <p:cNvGraphicFramePr/>
          <p:nvPr/>
        </p:nvGraphicFramePr>
        <p:xfrm>
          <a:off x="137409" y="200493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36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207975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Måste jag köra </a:t>
                      </a: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varje gång jag ändrar en modell?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Ja! dbt bygger inte om automatiskt. Kör dbt run efter varje ändring.</a:t>
                      </a:r>
                      <a:endParaRPr/>
                    </a:p>
                  </a:txBody>
                  <a:tcPr marL="207975" marR="124800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köra 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dbt run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flera gånger?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Ja, det är helt säkert. dbt ersätter bara gamla views med nya.</a:t>
                      </a:r>
                      <a:endParaRPr/>
                    </a:p>
                  </a:txBody>
                  <a:tcPr marL="207975" marR="124800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blev båda modellerna views?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Standardkonfigurationen i dbt skapar views. Det är bra för utveckling.</a:t>
                      </a:r>
                      <a:endParaRPr/>
                    </a:p>
                  </a:txBody>
                  <a:tcPr marL="207975" marR="124800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Jag ser inte fliken "Commands" – vad gör jag?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Titta längst NER i IDE-fönstret. Klicka på "Commands". Annars tryck Ctrl+J (Windows) eller Cmd+J (Mac).</a:t>
                      </a:r>
                      <a:endParaRPr/>
                    </a:p>
                  </a:txBody>
                  <a:tcPr marL="207975" marR="124800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nästa steg?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4800" marR="207975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 8 – Ansluta Databricks till Snowflake och börja bygga ML-modellen!</a:t>
                      </a:r>
                      <a:endParaRPr/>
                    </a:p>
                  </a:txBody>
                  <a:tcPr marL="207975" marR="124800" marT="87350" marB="873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71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71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71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71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71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Din väg framåt</a:t>
            </a:r>
            <a:endParaRPr/>
          </a:p>
        </p:txBody>
      </p:sp>
      <p:pic>
        <p:nvPicPr>
          <p:cNvPr id="829" name="Google Shape;829;p71" descr="En bild som visar text, skärmbild, Teckensnitt, linje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906308" y="-1234"/>
            <a:ext cx="2611611" cy="6766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72"/>
          <p:cNvSpPr txBox="1"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</a:pPr>
            <a:r>
              <a:rPr lang="sv-SE" sz="3000"/>
              <a:t>Steg 8: Anslut Databricks till Snowflake</a:t>
            </a:r>
            <a:endParaRPr/>
          </a:p>
        </p:txBody>
      </p:sp>
      <p:sp>
        <p:nvSpPr>
          <p:cNvPr id="836" name="Google Shape;836;p72"/>
          <p:cNvSpPr/>
          <p:nvPr/>
        </p:nvSpPr>
        <p:spPr>
          <a:xfrm rot="5400000">
            <a:off x="3566159" y="1225296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72"/>
          <p:cNvSpPr txBox="1">
            <a:spLocks noGrp="1"/>
          </p:cNvSpPr>
          <p:nvPr>
            <p:ph type="body" idx="1"/>
          </p:nvPr>
        </p:nvSpPr>
        <p:spPr>
          <a:xfrm>
            <a:off x="4654295" y="477937"/>
            <a:ext cx="7325543" cy="151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I Steg 8 ansluter du Databricks till Snowflake och hämtar din färdiga feature-tabell </a:t>
            </a:r>
            <a:r>
              <a:rPr lang="sv-SE" sz="2000">
                <a:highlight>
                  <a:srgbClr val="EBEEF2"/>
                </a:highlight>
                <a:latin typeface="Consolas"/>
                <a:ea typeface="Consolas"/>
                <a:cs typeface="Consolas"/>
                <a:sym typeface="Consolas"/>
              </a:rPr>
              <a:t>FCT_FEATURES</a:t>
            </a:r>
            <a:r>
              <a:rPr lang="sv-SE" sz="2000">
                <a:highlight>
                  <a:srgbClr val="FFFFFF"/>
                </a:highlight>
              </a:rPr>
              <a:t>. Detta är sista steget innan du bygger din ML-modell.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 b="1">
                <a:highlight>
                  <a:srgbClr val="FFFFFF"/>
                </a:highlight>
              </a:rPr>
              <a:t>Enkelt förklarat:</a:t>
            </a:r>
            <a:r>
              <a:rPr lang="sv-SE" sz="2000">
                <a:highlight>
                  <a:srgbClr val="FFFFFF"/>
                </a:highlight>
              </a:rPr>
              <a:t> Du hämtar datan från Snowflake till Databricks där ML-modellen byggs.</a:t>
            </a:r>
            <a:endParaRPr sz="1700"/>
          </a:p>
        </p:txBody>
      </p:sp>
      <p:pic>
        <p:nvPicPr>
          <p:cNvPr id="838" name="Google Shape;838;p72" descr="En bild som visar text, Teckensnitt, skärmbild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6" y="3656478"/>
            <a:ext cx="12167115" cy="136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73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73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73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73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8: Komplett tabell </a:t>
            </a:r>
            <a:endParaRPr sz="40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(EN cell)</a:t>
            </a:r>
            <a:endParaRPr/>
          </a:p>
        </p:txBody>
      </p:sp>
      <p:graphicFrame>
        <p:nvGraphicFramePr>
          <p:cNvPr id="848" name="Google Shape;848;p73"/>
          <p:cNvGraphicFramePr/>
          <p:nvPr/>
        </p:nvGraphicFramePr>
        <p:xfrm>
          <a:off x="62459" y="16739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6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0" marR="7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0" marR="7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Kodrad</a:t>
                      </a:r>
                      <a:endParaRPr/>
                    </a:p>
                  </a:txBody>
                  <a:tcPr marL="0" marR="7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0" marR="79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Installera bibliotek</a:t>
                      </a:r>
                      <a:endParaRPr/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%pip install snowflake-connector-python pandas scikit-learn -q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Behövs för att prata med Snowflake och för ML</a:t>
                      </a:r>
                      <a:endParaRPr/>
                    </a:p>
                  </a:txBody>
                  <a:tcPr marL="0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8.2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Importera bibliotek</a:t>
                      </a:r>
                      <a:endParaRPr/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 snowflake.connector as sf</a:t>
                      </a:r>
                      <a:br>
                        <a:rPr lang="sv-SE" sz="18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 pandas as pd</a:t>
                      </a:r>
                      <a:br>
                        <a:rPr lang="sv-SE" sz="18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from getpass import getpass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Verktygen för anslutning, datahantering och lösenord</a:t>
                      </a:r>
                      <a:endParaRPr/>
                    </a:p>
                  </a:txBody>
                  <a:tcPr marL="39825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8.3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Anslut till Snowflake</a:t>
                      </a:r>
                      <a:endParaRPr/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 = sf.connect(account='...', user='...', password=getpass(), ...)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Skapar en bro mellan Databricks och Snowflake</a:t>
                      </a:r>
                      <a:endParaRPr/>
                    </a:p>
                  </a:txBody>
                  <a:tcPr marL="0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8.4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 lösenord</a:t>
                      </a:r>
                      <a:endParaRPr/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Skrivs i terminalen (syns inte)</a:t>
                      </a:r>
                      <a:endParaRPr/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Autentisering mot Snowflake</a:t>
                      </a:r>
                      <a:endParaRPr/>
                    </a:p>
                  </a:txBody>
                  <a:tcPr marL="39825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8.5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antal rader</a:t>
                      </a:r>
                      <a:endParaRPr/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COUNT(*) FROM FCT_FEATURES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Verifierar att du har 4 000 rader (inte miljarder!)</a:t>
                      </a:r>
                      <a:endParaRPr/>
                    </a:p>
                  </a:txBody>
                  <a:tcPr marL="0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8.6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Hämta all data</a:t>
                      </a:r>
                      <a:endParaRPr/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df = pd.read_sql(query, conn)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Laddar datan till Databricks som en Pandas DataFrame</a:t>
                      </a:r>
                      <a:endParaRPr/>
                    </a:p>
                  </a:txBody>
                  <a:tcPr marL="39825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8.7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Stäng anslutningen</a:t>
                      </a:r>
                      <a:endParaRPr/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conn.close()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Frigör resurser (undviker timeout)</a:t>
                      </a:r>
                      <a:endParaRPr/>
                    </a:p>
                  </a:txBody>
                  <a:tcPr marL="0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8.8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Förbered för ML</a:t>
                      </a:r>
                      <a:endParaRPr/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 = df['ATTACK_TYPE']</a:t>
                      </a:r>
                      <a:br>
                        <a:rPr lang="sv-SE" sz="18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 = df[numerical_cols]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825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Separerar målvariabel från features</a:t>
                      </a:r>
                      <a:endParaRPr/>
                    </a:p>
                  </a:txBody>
                  <a:tcPr marL="39825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8.9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resultat</a:t>
                      </a:r>
                      <a:endParaRPr/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df.head()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13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Kontrollerar att datan ser rätt ut</a:t>
                      </a:r>
                      <a:endParaRPr/>
                    </a:p>
                  </a:txBody>
                  <a:tcPr marL="0" marR="796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4"/>
          <p:cNvSpPr txBox="1">
            <a:spLocks noGrp="1"/>
          </p:cNvSpPr>
          <p:nvPr>
            <p:ph type="title"/>
          </p:nvPr>
        </p:nvSpPr>
        <p:spPr>
          <a:xfrm>
            <a:off x="308423" y="741391"/>
            <a:ext cx="4024091" cy="161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sv-SE" sz="3200"/>
              <a:t>Steg 9: Importera MLflow i Databricks</a:t>
            </a:r>
            <a:endParaRPr sz="3200"/>
          </a:p>
        </p:txBody>
      </p:sp>
      <p:sp>
        <p:nvSpPr>
          <p:cNvPr id="854" name="Google Shape;854;p74"/>
          <p:cNvSpPr txBox="1">
            <a:spLocks noGrp="1"/>
          </p:cNvSpPr>
          <p:nvPr>
            <p:ph type="body" idx="1"/>
          </p:nvPr>
        </p:nvSpPr>
        <p:spPr>
          <a:xfrm>
            <a:off x="127609" y="2533476"/>
            <a:ext cx="4204905" cy="3447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I Steg 9 importerar du </a:t>
            </a:r>
            <a:r>
              <a:rPr lang="sv-SE" sz="2000" b="1">
                <a:highlight>
                  <a:srgbClr val="FFFFFF"/>
                </a:highlight>
              </a:rPr>
              <a:t>MLflow</a:t>
            </a:r>
            <a:r>
              <a:rPr lang="sv-SE" sz="2000">
                <a:highlight>
                  <a:srgbClr val="FFFFFF"/>
                </a:highlight>
              </a:rPr>
              <a:t> – ett verktyg som sparar alla dina ML-experiment. Det gör att du kan jämföra olika modeller, spara vilka parametrar du använde, och se resultaten i en snygg översikt.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 b="1">
                <a:highlight>
                  <a:srgbClr val="FFFFFF"/>
                </a:highlight>
              </a:rPr>
              <a:t>Enkelt förklarat:</a:t>
            </a:r>
            <a:r>
              <a:rPr lang="sv-SE" sz="2000">
                <a:highlight>
                  <a:srgbClr val="FFFFFF"/>
                </a:highlight>
              </a:rPr>
              <a:t> MLflow är som en </a:t>
            </a:r>
            <a:r>
              <a:rPr lang="sv-SE" sz="2000" b="1">
                <a:highlight>
                  <a:srgbClr val="FFFFFF"/>
                </a:highlight>
              </a:rPr>
              <a:t>dagbok</a:t>
            </a:r>
            <a:r>
              <a:rPr lang="sv-SE" sz="2000">
                <a:highlight>
                  <a:srgbClr val="FFFFFF"/>
                </a:highlight>
              </a:rPr>
              <a:t> för din ML-modell – den sparar allt du gör så att du kan gå tillbaka och se vad som fungerade bäst.</a:t>
            </a:r>
            <a:endParaRPr sz="1800"/>
          </a:p>
        </p:txBody>
      </p:sp>
      <p:pic>
        <p:nvPicPr>
          <p:cNvPr id="855" name="Google Shape;855;p74" descr="En bild som visar text, diagram, Teckensnitt, skärmbild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5232" y="1294056"/>
            <a:ext cx="7616294" cy="4253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6" name="Google Shape;856;p74"/>
          <p:cNvGrpSpPr/>
          <p:nvPr/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857" name="Google Shape;857;p74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74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1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75"/>
          <p:cNvSpPr txBox="1"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</a:pPr>
            <a:r>
              <a:rPr lang="sv-SE" sz="2600"/>
              <a:t>Varför MLflow används i professionell produktion</a:t>
            </a:r>
            <a:endParaRPr/>
          </a:p>
        </p:txBody>
      </p:sp>
      <p:sp>
        <p:nvSpPr>
          <p:cNvPr id="865" name="Google Shape;865;p75"/>
          <p:cNvSpPr/>
          <p:nvPr/>
        </p:nvSpPr>
        <p:spPr>
          <a:xfrm rot="5400000">
            <a:off x="3566159" y="1225296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75"/>
          <p:cNvSpPr txBox="1">
            <a:spLocks noGrp="1"/>
          </p:cNvSpPr>
          <p:nvPr>
            <p:ph type="body" idx="1"/>
          </p:nvPr>
        </p:nvSpPr>
        <p:spPr>
          <a:xfrm>
            <a:off x="4654295" y="502920"/>
            <a:ext cx="689457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sv-SE" sz="2200" b="1">
                <a:highlight>
                  <a:srgbClr val="FFFFFF"/>
                </a:highlight>
              </a:rPr>
              <a:t>MLflow är standardverktyget för att spåra ML-experiment i företag.</a:t>
            </a:r>
            <a:r>
              <a:rPr lang="sv-SE" sz="2200">
                <a:highlight>
                  <a:srgbClr val="FFFFFF"/>
                </a:highlight>
              </a:rPr>
              <a:t> Utan MLflow blir det kaos när flera personer tränar flera modeller samtidigt.</a:t>
            </a:r>
            <a:endParaRPr sz="2200"/>
          </a:p>
        </p:txBody>
      </p:sp>
      <p:pic>
        <p:nvPicPr>
          <p:cNvPr id="867" name="Google Shape;867;p75" descr="En bild som visar text, diagram, linje, skärmbild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8553" y="2174699"/>
            <a:ext cx="9210228" cy="4682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76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76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76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76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Verkliga exempel från företag</a:t>
            </a:r>
            <a:endParaRPr/>
          </a:p>
        </p:txBody>
      </p:sp>
      <p:graphicFrame>
        <p:nvGraphicFramePr>
          <p:cNvPr id="877" name="Google Shape;877;p76"/>
          <p:cNvGraphicFramePr/>
          <p:nvPr/>
        </p:nvGraphicFramePr>
        <p:xfrm>
          <a:off x="14911" y="183020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46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6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Företag</a:t>
                      </a:r>
                      <a:endParaRPr/>
                    </a:p>
                  </a:txBody>
                  <a:tcPr marL="105225" marR="75175" marT="150325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Hur de använder MLflow</a:t>
                      </a:r>
                      <a:endParaRPr/>
                    </a:p>
                  </a:txBody>
                  <a:tcPr marL="105225" marR="75175" marT="150325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 de löser</a:t>
                      </a:r>
                      <a:endParaRPr/>
                    </a:p>
                  </a:txBody>
                  <a:tcPr marL="105225" marR="75175" marT="150325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Spotify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Spårar miljarder musikrekommendationer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"Vilken modell gav bäst spellistor förra veckan?"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Airbnb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Loggar alla pris-prediktioner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"Varför funkade modellen bättre i Paris än i New York?"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Uber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Spårar ETA-modeller (ankomsttid)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"Behöver vi träna om modellen varje dag?"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Netflix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Loggar rekommendationsmodeller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"Vilken parametrar gav högst tittartid?"</a:t>
                      </a:r>
                      <a:endParaRPr/>
                    </a:p>
                  </a:txBody>
                  <a:tcPr marL="105225" marR="75175" marT="156600" marB="1503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2" name="Google Shape;882;p77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883" name="Google Shape;883;p77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77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77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6" name="Google Shape;886;p77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Steg 9: Komplett tabell (EN cell)</a:t>
            </a:r>
            <a:endParaRPr sz="4000">
              <a:solidFill>
                <a:srgbClr val="FFFFFF"/>
              </a:solidFill>
            </a:endParaRPr>
          </a:p>
        </p:txBody>
      </p:sp>
      <p:graphicFrame>
        <p:nvGraphicFramePr>
          <p:cNvPr id="887" name="Google Shape;887;p77"/>
          <p:cNvGraphicFramePr/>
          <p:nvPr/>
        </p:nvGraphicFramePr>
        <p:xfrm>
          <a:off x="34636" y="218901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6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Kod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Importera MLflow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 mlflow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Huvudbiblioteket för att logga experiment</a:t>
                      </a:r>
                      <a:endParaRPr/>
                    </a:p>
                  </a:txBody>
                  <a:tcPr marL="138150" marR="829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9.2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Importera tracking-modul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from mlflow.tracking import MlflowClient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 att hantera experiment och körningar</a:t>
                      </a:r>
                      <a:endParaRPr/>
                    </a:p>
                  </a:txBody>
                  <a:tcPr marL="138150" marR="829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9.3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Importera sklearn (för att spara modeller)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 mlflow.sklearn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 att spara scikit-learn-modeller</a:t>
                      </a:r>
                      <a:endParaRPr/>
                    </a:p>
                  </a:txBody>
                  <a:tcPr marL="138150" marR="829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9.4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Skapa ett experiment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mlflow.set_experiment("/Users/din_email/insider_threat")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Skapar en mapp för alla dina körningar</a:t>
                      </a:r>
                      <a:endParaRPr/>
                    </a:p>
                  </a:txBody>
                  <a:tcPr marL="138150" marR="829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9.5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att MLflow fungerar</a:t>
                      </a:r>
                      <a:endParaRPr/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print(f"MLflow version: {mlflow.__version__}")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150" marR="1381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Kontrollerar att allt är installerat</a:t>
                      </a:r>
                      <a:endParaRPr/>
                    </a:p>
                  </a:txBody>
                  <a:tcPr marL="138150" marR="829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8"/>
          <p:cNvSpPr/>
          <p:nvPr/>
        </p:nvSpPr>
        <p:spPr>
          <a:xfrm>
            <a:off x="1428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3" name="Google Shape;893;p78"/>
          <p:cNvGrpSpPr/>
          <p:nvPr/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894" name="Google Shape;894;p78"/>
            <p:cNvSpPr/>
            <p:nvPr/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78"/>
                  </a:srgbClr>
                </a:gs>
                <a:gs pos="100000">
                  <a:srgbClr val="0F4861"/>
                </a:gs>
              </a:gsLst>
              <a:lin ang="8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78"/>
            <p:cNvSpPr/>
            <p:nvPr/>
          </p:nvSpPr>
          <p:spPr>
            <a:xfrm rot="-54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0">
                  <a:srgbClr val="156082">
                    <a:alpha val="0"/>
                  </a:srgbClr>
                </a:gs>
                <a:gs pos="45000">
                  <a:srgbClr val="156082">
                    <a:alpha val="0"/>
                  </a:srgbClr>
                </a:gs>
                <a:gs pos="99000">
                  <a:srgbClr val="000000">
                    <a:alpha val="74117"/>
                  </a:srgbClr>
                </a:gs>
                <a:gs pos="100000">
                  <a:srgbClr val="000000">
                    <a:alpha val="74117"/>
                  </a:srgbClr>
                </a:gs>
              </a:gsLst>
              <a:lin ang="11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78"/>
            <p:cNvSpPr/>
            <p:nvPr/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rgbClr val="156082">
                    <a:alpha val="16862"/>
                  </a:srgbClr>
                </a:gs>
                <a:gs pos="74000">
                  <a:srgbClr val="0A3041">
                    <a:alpha val="0"/>
                  </a:srgbClr>
                </a:gs>
                <a:gs pos="100000">
                  <a:srgbClr val="0A3041">
                    <a:alpha val="0"/>
                  </a:srgbClr>
                </a:gs>
              </a:gsLst>
              <a:lin ang="14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7" name="Google Shape;897;p78"/>
          <p:cNvSpPr txBox="1"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Verkligt scenario: Ett ML-team på 5 personer</a:t>
            </a:r>
            <a:endParaRPr/>
          </a:p>
        </p:txBody>
      </p:sp>
      <p:pic>
        <p:nvPicPr>
          <p:cNvPr id="898" name="Google Shape;898;p78" descr="En bild som visar text, diagram, skärmbild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2316" y="1729658"/>
            <a:ext cx="6463061" cy="2295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 descr="En bild som visar text, diagram, linje, Graf&#10;&#10;AI-genererat innehåll kan vara felaktig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520" y="1726613"/>
            <a:ext cx="5908693" cy="21478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0" name="Google Shape;900;p78"/>
          <p:cNvGrpSpPr/>
          <p:nvPr/>
        </p:nvGrpSpPr>
        <p:grpSpPr>
          <a:xfrm>
            <a:off x="3005535" y="5070917"/>
            <a:ext cx="6228552" cy="1384122"/>
            <a:chOff x="1633937" y="571"/>
            <a:chExt cx="6228552" cy="1384122"/>
          </a:xfrm>
        </p:grpSpPr>
        <p:sp>
          <p:nvSpPr>
            <p:cNvPr id="901" name="Google Shape;901;p78"/>
            <p:cNvSpPr/>
            <p:nvPr/>
          </p:nvSpPr>
          <p:spPr>
            <a:xfrm>
              <a:off x="1633937" y="571"/>
              <a:ext cx="2768245" cy="138412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EC8154"/>
                </a:gs>
                <a:gs pos="50000">
                  <a:srgbClr val="F16E27"/>
                </a:gs>
                <a:gs pos="100000">
                  <a:srgbClr val="DF5D1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78"/>
            <p:cNvSpPr txBox="1"/>
            <p:nvPr/>
          </p:nvSpPr>
          <p:spPr>
            <a:xfrm>
              <a:off x="1674477" y="41111"/>
              <a:ext cx="2687165" cy="1303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44450" rIns="66675" bIns="44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Arial"/>
                <a:buNone/>
              </a:pPr>
              <a:r>
                <a:rPr lang="sv-SE" sz="35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Utan MLflow (kaos):</a:t>
              </a:r>
              <a:endParaRPr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78"/>
            <p:cNvSpPr/>
            <p:nvPr/>
          </p:nvSpPr>
          <p:spPr>
            <a:xfrm>
              <a:off x="5094244" y="571"/>
              <a:ext cx="2768245" cy="138412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78"/>
            <p:cNvSpPr txBox="1"/>
            <p:nvPr/>
          </p:nvSpPr>
          <p:spPr>
            <a:xfrm>
              <a:off x="5134784" y="41111"/>
              <a:ext cx="2687165" cy="1303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675" tIns="44450" rIns="66675" bIns="44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Arial"/>
                <a:buNone/>
              </a:pPr>
              <a:r>
                <a:rPr lang="sv-SE" sz="35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Med MLflow (ordning):</a:t>
              </a:r>
              <a:endParaRPr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9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79"/>
          <p:cNvSpPr txBox="1"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sv-SE" sz="5200"/>
              <a:t>Utan vs Med MLflow</a:t>
            </a:r>
            <a:endParaRPr/>
          </a:p>
        </p:txBody>
      </p:sp>
      <p:graphicFrame>
        <p:nvGraphicFramePr>
          <p:cNvPr id="911" name="Google Shape;911;p79"/>
          <p:cNvGraphicFramePr/>
          <p:nvPr/>
        </p:nvGraphicFramePr>
        <p:xfrm>
          <a:off x="868742" y="18256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24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Aspekt</a:t>
                      </a:r>
                      <a:endParaRPr/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Utan MLflow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 MLflow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parametrar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 manuellt i Excel eller textfil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Automatiskt – mlflow.log_param()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metrics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Kopiera från terminalen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Automatiskt – mlflow.log_metric()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modellen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.pkl fil på en hårddisk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 MLflow som "artifact"</a:t>
                      </a:r>
                      <a:endParaRPr/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Jämföra modeller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10 olika filer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En dashboard med alla körningar</a:t>
                      </a:r>
                      <a:endParaRPr/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Samarbete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Maila filer fram och tillbaka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Alla ser samma experiment</a:t>
                      </a:r>
                      <a:endParaRPr/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Reproducerbarhet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"Vilka parametrar använde jag?"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Allt sparas – kör exakt samma igen</a:t>
                      </a:r>
                      <a:endParaRPr/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 för att hitta bästa modell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9950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2-3 timmar manuellt</a:t>
                      </a:r>
                      <a:endParaRPr/>
                    </a:p>
                  </a:txBody>
                  <a:tcPr marL="199925" marR="199925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minuter i MLflow UI</a:t>
                      </a:r>
                      <a:endParaRPr/>
                    </a:p>
                  </a:txBody>
                  <a:tcPr marL="199925" marR="119950" marT="83975" marB="83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80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80"/>
          <p:cNvSpPr txBox="1"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sv-SE" sz="5200"/>
              <a:t>Utan vs Med MLflow</a:t>
            </a:r>
            <a:endParaRPr sz="5200"/>
          </a:p>
        </p:txBody>
      </p:sp>
      <p:graphicFrame>
        <p:nvGraphicFramePr>
          <p:cNvPr id="918" name="Google Shape;918;p80"/>
          <p:cNvGraphicFramePr/>
          <p:nvPr/>
        </p:nvGraphicFramePr>
        <p:xfrm>
          <a:off x="154983" y="1782305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chemeClr val="lt1"/>
                </a:solidFill>
                <a:tableStyleId>{0F4F30DF-796E-4B71-B604-BF9DE2107E0F}</a:tableStyleId>
              </a:tblPr>
              <a:tblGrid>
                <a:gridCol w="355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Aspekt</a:t>
                      </a:r>
                      <a:endParaRPr/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Utan MLflow</a:t>
                      </a:r>
                      <a:endParaRPr/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 MLflow</a:t>
                      </a:r>
                      <a:endParaRPr/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parametrar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 manuellt i Excel eller textfil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Automatiskt – mlflow.log_param()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metrics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Kopiera från terminalen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Automatiskt – mlflow.log_metric()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modellen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.pkl fil på en hårddisk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I MLflow som "artifact"</a:t>
                      </a:r>
                      <a:endParaRPr/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Jämföra modeller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Öppna 10 olika filer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En dashboard med alla körningar</a:t>
                      </a:r>
                      <a:endParaRPr/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Samarbete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Maila filer fram och tillbaka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Alla ser samma experiment</a:t>
                      </a:r>
                      <a:endParaRPr/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Reproducerbarhet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"Vilka parametrar använde jag?"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Allt sparas – kör exakt samma igen</a:t>
                      </a:r>
                      <a:endParaRPr/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Tid för att hitta bästa modell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875" marR="152400" marT="91450" marB="9145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2-3 timmar manuellt</a:t>
                      </a:r>
                      <a:endParaRPr/>
                    </a:p>
                  </a:txBody>
                  <a:tcPr marL="118875" marR="15240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minuter i MLflow UI</a:t>
                      </a:r>
                      <a:endParaRPr/>
                    </a:p>
                  </a:txBody>
                  <a:tcPr marL="118875" marR="91450" marT="91450" marB="9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81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81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81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81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81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MLflow-arkitektur i produktion</a:t>
            </a:r>
            <a:endParaRPr/>
          </a:p>
        </p:txBody>
      </p:sp>
      <p:pic>
        <p:nvPicPr>
          <p:cNvPr id="929" name="Google Shape;929;p81" descr="En bild som visar text, skärmbild, diagram, Teckensnitt&#10;&#10;AI-genererat innehåll kan vara felaktig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901362" y="2259"/>
            <a:ext cx="5189878" cy="685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82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82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82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82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82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Varför just MLflow (och inte annat)?</a:t>
            </a:r>
            <a:endParaRPr/>
          </a:p>
        </p:txBody>
      </p:sp>
      <p:graphicFrame>
        <p:nvGraphicFramePr>
          <p:cNvPr id="940" name="Google Shape;940;p82"/>
          <p:cNvGraphicFramePr/>
          <p:nvPr/>
        </p:nvGraphicFramePr>
        <p:xfrm>
          <a:off x="4132881" y="121403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{DB10B339-6396-4F68-8CE8-AFA409E144A8}</a:tableStyleId>
              </a:tblPr>
              <a:tblGrid>
                <a:gridCol w="16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Verktyg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00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Fördelar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Nackdelar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Används av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/>
                        <a:t>MLflow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00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✅ Gratis, öppen källa, integrerat med Databricks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–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Airbnb, Uber, Netflix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85600" marT="89175" marB="891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/>
                        <a:t>TensorBoard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00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✅ Bra för deep learning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❌ Fungerar bara för TensorFlow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Deep learning-team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85600" marT="89175" marB="891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/>
                        <a:t>Weights &amp; Biases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00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✅ Snygg dashboard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❌ Kostar pengar (enterprise)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Startup med budget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85600" marT="89175" marB="891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/>
                        <a:t>Excel/Google Sheets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00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✅ Gratis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/>
                        <a:t>❌ Manuellt, glömmer saker, inget samarbete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142675" marT="89175" marB="8917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1" u="none" strike="noStrike" cap="none"/>
                        <a:t>Används fortfarande!</a:t>
                      </a:r>
                      <a:r>
                        <a:rPr lang="sv-SE" sz="1700" b="0" u="none" strike="noStrike" cap="none"/>
                        <a:t> (men dåligt)</a:t>
                      </a:r>
                      <a:endParaRPr sz="17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675" marR="85600" marT="89175" marB="891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83"/>
          <p:cNvSpPr txBox="1">
            <a:spLocks noGrp="1"/>
          </p:cNvSpPr>
          <p:nvPr>
            <p:ph type="title"/>
          </p:nvPr>
        </p:nvSpPr>
        <p:spPr>
          <a:xfrm>
            <a:off x="140157" y="451259"/>
            <a:ext cx="3910635" cy="156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</a:pPr>
            <a:r>
              <a:rPr lang="sv-SE" sz="3000"/>
              <a:t>Steg 10: Bygg ML-modell (Random Forest)</a:t>
            </a:r>
            <a:endParaRPr/>
          </a:p>
        </p:txBody>
      </p:sp>
      <p:sp>
        <p:nvSpPr>
          <p:cNvPr id="947" name="Google Shape;947;p83"/>
          <p:cNvSpPr/>
          <p:nvPr/>
        </p:nvSpPr>
        <p:spPr>
          <a:xfrm rot="5400000">
            <a:off x="3566159" y="1225296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83"/>
          <p:cNvSpPr txBox="1">
            <a:spLocks noGrp="1"/>
          </p:cNvSpPr>
          <p:nvPr>
            <p:ph type="body" idx="1"/>
          </p:nvPr>
        </p:nvSpPr>
        <p:spPr>
          <a:xfrm>
            <a:off x="4654295" y="502920"/>
            <a:ext cx="6894576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Char char="•"/>
            </a:pP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I Steg 10 bygger du en </a:t>
            </a: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Random Forest-modell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som upptäcker insiderhot. Random Forest är en </a:t>
            </a: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övervakad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ML-modell – den lär sig från exempel på attacker och normala beteenden.</a:t>
            </a:r>
            <a:endParaRPr sz="1800">
              <a:solidFill>
                <a:srgbClr val="0F1115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800"/>
              <a:buChar char="•"/>
            </a:pP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</a:rPr>
              <a:t>Enkelt förklarat: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</a:rPr>
              <a:t> Modellen lär sig mönster från 4 000 exempel och kan sedan avgöra om en ny användare beter sig misstänkt.</a:t>
            </a:r>
            <a:endParaRPr sz="1800">
              <a:solidFill>
                <a:srgbClr val="0F1115"/>
              </a:solidFill>
            </a:endParaRPr>
          </a:p>
        </p:txBody>
      </p:sp>
      <p:pic>
        <p:nvPicPr>
          <p:cNvPr id="949" name="Google Shape;949;p83" descr="En bild som visar text, Teckensnitt, diagram, skärmbild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77880"/>
            <a:ext cx="12192000" cy="1303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84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84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84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84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Steg 10: Översikt</a:t>
            </a:r>
            <a:endParaRPr/>
          </a:p>
        </p:txBody>
      </p:sp>
      <p:graphicFrame>
        <p:nvGraphicFramePr>
          <p:cNvPr id="959" name="Google Shape;959;p84"/>
          <p:cNvGraphicFramePr/>
          <p:nvPr/>
        </p:nvGraphicFramePr>
        <p:xfrm>
          <a:off x="-1" y="206114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7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görs?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Resultat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10.1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binär etikett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Attack (1) vs Normal (0)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87.6% attack, 12.3% normal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10.2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Dela upp data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80% träning, 20% test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3 200 / 800 rader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Skala features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Normalisera värden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kolumner på skala 0-1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10.4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Träna Isolation Forest (jämförelse)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Oövervakad modell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F1-score: 0.658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10.5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Träna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Övervakad modell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F1-score: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0.979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10.6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 modeller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Precision, Recall, F1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 vinner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10.7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Analysera viktigaste features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påverkar mest?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TOTAL_PRIVILEGE_ATTEMPTS 46%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10.8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Logga till MLflow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 experiment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Gjort!</a:t>
                      </a:r>
                      <a:endParaRPr/>
                    </a:p>
                  </a:txBody>
                  <a:tcPr marL="0" marR="0" marT="222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85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85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85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85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Isolation Forest vs Random Forest</a:t>
            </a:r>
            <a:endParaRPr/>
          </a:p>
        </p:txBody>
      </p:sp>
      <p:graphicFrame>
        <p:nvGraphicFramePr>
          <p:cNvPr id="969" name="Google Shape;969;p85"/>
          <p:cNvGraphicFramePr/>
          <p:nvPr/>
        </p:nvGraphicFramePr>
        <p:xfrm>
          <a:off x="299803" y="169263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90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2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MÄTVÄRDE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ISOLATION FOREST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Arial"/>
                        <a:buNone/>
                      </a:pPr>
                      <a:r>
                        <a:rPr lang="sv-SE" sz="21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RF ÄR BÄTTRE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87.3%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99.1%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Färre falska larm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52.8%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96.7%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Upptäcker nästan alla attacker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0.658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0.979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Mycket bättre balans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Falska positiva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 st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st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Mycket färre falska larm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Missade attacker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331 st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 st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Upptäcker nästan alla</a:t>
                      </a:r>
                      <a:endParaRPr/>
                    </a:p>
                  </a:txBody>
                  <a:tcPr marL="175950" marR="175950" marT="175950" marB="175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6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86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sv-SE" sz="4800"/>
              <a:t>Confusion Matrix (förklaras)</a:t>
            </a:r>
            <a:endParaRPr sz="4800"/>
          </a:p>
        </p:txBody>
      </p:sp>
      <p:sp>
        <p:nvSpPr>
          <p:cNvPr id="976" name="Google Shape;976;p86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86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86"/>
          <p:cNvSpPr txBox="1">
            <a:spLocks noGrp="1"/>
          </p:cNvSpPr>
          <p:nvPr>
            <p:ph type="body" idx="1"/>
          </p:nvPr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              ┌─────────────────┐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              │  Förutsagd      │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              │  Normal  Attack │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┌─────────────┼─────────────────┤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│    Normal   │   93       6    │  ← 6 falska positiva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│ Verklig     │                 │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│    Attack   │   23     678    │       ← 23 missade attacker</a:t>
            </a:r>
            <a:br>
              <a:rPr lang="sv-SE" sz="1700"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1700">
                <a:latin typeface="Consolas"/>
                <a:ea typeface="Consolas"/>
                <a:cs typeface="Consolas"/>
                <a:sym typeface="Consolas"/>
              </a:rPr>
              <a:t>   └─────────────┴─────────────────┘</a:t>
            </a:r>
            <a:endParaRPr sz="1700"/>
          </a:p>
        </p:txBody>
      </p:sp>
      <p:sp>
        <p:nvSpPr>
          <p:cNvPr id="979" name="Google Shape;979;p86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80" name="Google Shape;980;p86"/>
          <p:cNvGraphicFramePr/>
          <p:nvPr/>
        </p:nvGraphicFramePr>
        <p:xfrm>
          <a:off x="5396459" y="28856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22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Cell</a:t>
                      </a:r>
                      <a:endParaRPr/>
                    </a:p>
                  </a:txBody>
                  <a:tcPr marL="74950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Betydelse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Bra/dåligt?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Övre vänster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4950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93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Normala som inte flaggades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Bra!</a:t>
                      </a:r>
                      <a:endParaRPr/>
                    </a:p>
                  </a:txBody>
                  <a:tcPr marL="124925" marR="74950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Övre höger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4950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Normala som flaggades (falskt alarm)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Mycket bra!</a:t>
                      </a:r>
                      <a:endParaRPr/>
                    </a:p>
                  </a:txBody>
                  <a:tcPr marL="124925" marR="74950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Nedre vänster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4950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❌ Attacker som missades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Bra (bara 3%)</a:t>
                      </a:r>
                      <a:endParaRPr/>
                    </a:p>
                  </a:txBody>
                  <a:tcPr marL="124925" marR="74950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Nedre höger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4950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678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Attacker som upptäcktes</a:t>
                      </a:r>
                      <a:endParaRPr/>
                    </a:p>
                  </a:txBody>
                  <a:tcPr marL="124925" marR="124925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Utmärkt!</a:t>
                      </a:r>
                      <a:endParaRPr/>
                    </a:p>
                  </a:txBody>
                  <a:tcPr marL="124925" marR="74950" marT="78075" marB="78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87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87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1176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87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137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87"/>
          <p:cNvSpPr txBox="1">
            <a:spLocks noGrp="1"/>
          </p:cNvSpPr>
          <p:nvPr>
            <p:ph type="title"/>
          </p:nvPr>
        </p:nvSpPr>
        <p:spPr>
          <a:xfrm>
            <a:off x="206287" y="248038"/>
            <a:ext cx="7906917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Viktigaste features </a:t>
            </a:r>
            <a:endParaRPr sz="37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sv-SE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(vad modellen lär sig)</a:t>
            </a:r>
            <a:endParaRPr/>
          </a:p>
        </p:txBody>
      </p:sp>
      <p:graphicFrame>
        <p:nvGraphicFramePr>
          <p:cNvPr id="990" name="Google Shape;990;p87"/>
          <p:cNvGraphicFramePr/>
          <p:nvPr/>
        </p:nvGraphicFramePr>
        <p:xfrm>
          <a:off x="106180" y="1717622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{0F4F30DF-796E-4B71-B604-BF9DE2107E0F}</a:tableStyleId>
              </a:tblPr>
              <a:tblGrid>
                <a:gridCol w="315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2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Viktighet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8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9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Visualisering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TOTAL_PRIVILEGE_ATTEMPTS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46.2%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Summan av alla privilegieförsök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███████████████████████</a:t>
                      </a:r>
                      <a:endParaRPr/>
                    </a:p>
                  </a:txBody>
                  <a:tcPr marL="202850" marR="12170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NUM_FAILED_LOGINS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29.6%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Misslyckade inloggningar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██████████████</a:t>
                      </a:r>
                      <a:endParaRPr/>
                    </a:p>
                  </a:txBody>
                  <a:tcPr marL="202850" marR="12170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ROOT_SHELL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4.2%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Root-åtkomst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██</a:t>
                      </a:r>
                      <a:endParaRPr/>
                    </a:p>
                  </a:txBody>
                  <a:tcPr marL="202850" marR="12170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SU_ATTEMPTED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3.1%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Privilegieeskalering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█</a:t>
                      </a:r>
                      <a:endParaRPr/>
                    </a:p>
                  </a:txBody>
                  <a:tcPr marL="202850" marR="12170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SAME_SRV_RATE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70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2.2%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Återanvändning av samma tjänst</a:t>
                      </a:r>
                      <a:endParaRPr/>
                    </a:p>
                  </a:txBody>
                  <a:tcPr marL="202850" marR="20285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█</a:t>
                      </a:r>
                      <a:endParaRPr/>
                    </a:p>
                  </a:txBody>
                  <a:tcPr marL="202850" marR="121700" marT="121700" marB="1267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1" name="Google Shape;991;p87"/>
          <p:cNvSpPr txBox="1"/>
          <p:nvPr/>
        </p:nvSpPr>
        <p:spPr>
          <a:xfrm>
            <a:off x="106180" y="5939852"/>
            <a:ext cx="117735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Tolkning: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Modellen har lärt sig att </a:t>
            </a:r>
            <a:r>
              <a:rPr lang="sv-S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TOTAL_PRIVILEGE_ATTEMPTS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(summan av misslyckade inloggningar + root + su_attempted) är den </a:t>
            </a:r>
            <a:r>
              <a:rPr lang="sv-SE" sz="1800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starkaste indikatorn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på insiderhot – vilket är helt logiskt!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88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88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88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8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Slutgiltiga resultat</a:t>
            </a:r>
            <a:endParaRPr sz="4000">
              <a:solidFill>
                <a:srgbClr val="FFFFFF"/>
              </a:solidFill>
            </a:endParaRPr>
          </a:p>
        </p:txBody>
      </p:sp>
      <p:graphicFrame>
        <p:nvGraphicFramePr>
          <p:cNvPr id="1001" name="Google Shape;1001;p88"/>
          <p:cNvGraphicFramePr/>
          <p:nvPr/>
        </p:nvGraphicFramePr>
        <p:xfrm>
          <a:off x="199868" y="21111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16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Mätvärde</a:t>
                      </a:r>
                      <a:endParaRPr/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Ditt resultat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Betydelse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Bedömning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99.1%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När modellen flaggar, har den rätt i 99 av 100 fall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⭐ Utmärkt</a:t>
                      </a:r>
                      <a:endParaRPr/>
                    </a:p>
                  </a:txBody>
                  <a:tcPr marL="159075" marR="95450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96.7%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 hittar 97 av 100 attacker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⭐ Utmärkt</a:t>
                      </a:r>
                      <a:endParaRPr/>
                    </a:p>
                  </a:txBody>
                  <a:tcPr marL="159075" marR="95450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0.979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Perfekt balans mellan precision och recall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⭐ Utmärkt</a:t>
                      </a:r>
                      <a:endParaRPr/>
                    </a:p>
                  </a:txBody>
                  <a:tcPr marL="159075" marR="95450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Falska positiva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 st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Bara 6 normala beteenden flaggades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⭐ Mycket bra</a:t>
                      </a:r>
                      <a:endParaRPr/>
                    </a:p>
                  </a:txBody>
                  <a:tcPr marL="159075" marR="95450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Missade attacker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450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23 st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Bara 23 av 701 attacker missades</a:t>
                      </a:r>
                      <a:endParaRPr/>
                    </a:p>
                  </a:txBody>
                  <a:tcPr marL="159075" marR="159075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⭐ Mycket bra</a:t>
                      </a:r>
                      <a:endParaRPr/>
                    </a:p>
                  </a:txBody>
                  <a:tcPr marL="159075" marR="95450" marT="99425" marB="99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6" name="Google Shape;1006;p89"/>
          <p:cNvGrpSpPr/>
          <p:nvPr/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007" name="Google Shape;1007;p89"/>
            <p:cNvSpPr/>
            <p:nvPr/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89"/>
            <p:cNvSpPr/>
            <p:nvPr/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>
              <a:gsLst>
                <a:gs pos="0">
                  <a:srgbClr val="78206E"/>
                </a:gs>
                <a:gs pos="60000">
                  <a:srgbClr val="D86CCC">
                    <a:alpha val="0"/>
                  </a:srgbClr>
                </a:gs>
                <a:gs pos="100000">
                  <a:srgbClr val="D86CCC">
                    <a:alpha val="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89"/>
            <p:cNvSpPr/>
            <p:nvPr/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>
              <a:gsLst>
                <a:gs pos="0">
                  <a:srgbClr val="F2A982">
                    <a:alpha val="78039"/>
                  </a:srgbClr>
                </a:gs>
                <a:gs pos="3000">
                  <a:srgbClr val="F2A982">
                    <a:alpha val="78039"/>
                  </a:srgbClr>
                </a:gs>
                <a:gs pos="42000">
                  <a:srgbClr val="E97132">
                    <a:alpha val="0"/>
                  </a:srgbClr>
                </a:gs>
                <a:gs pos="100000">
                  <a:srgbClr val="E97132">
                    <a:alpha val="0"/>
                  </a:srgbClr>
                </a:gs>
              </a:gsLst>
              <a:lin ang="3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89"/>
            <p:cNvSpPr/>
            <p:nvPr/>
          </p:nvSpPr>
          <p:spPr>
            <a:xfrm rot="-54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rgbClr val="A02B93">
                    <a:alpha val="85882"/>
                  </a:srgbClr>
                </a:gs>
                <a:gs pos="57000">
                  <a:srgbClr val="E97132">
                    <a:alpha val="0"/>
                  </a:srgbClr>
                </a:gs>
                <a:gs pos="100000">
                  <a:srgbClr val="E97132">
                    <a:alpha val="0"/>
                  </a:srgbClr>
                </a:gs>
              </a:gsLst>
              <a:lin ang="1380000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1" name="Google Shape;1011;p89"/>
          <p:cNvSpPr txBox="1"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Vad är detta multi-agent tillägg?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1012" name="Google Shape;1012;p89"/>
          <p:cNvSpPr txBox="1">
            <a:spLocks noGrp="1"/>
          </p:cNvSpPr>
          <p:nvPr>
            <p:ph type="body" idx="1"/>
          </p:nvPr>
        </p:nvSpPr>
        <p:spPr>
          <a:xfrm>
            <a:off x="755484" y="2459116"/>
            <a:ext cx="3702579" cy="3524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Efter att din Random Forest-modell tränats (Steg 10), lägger du till </a:t>
            </a:r>
            <a:r>
              <a:rPr lang="sv-SE" sz="2000" b="1">
                <a:highlight>
                  <a:srgbClr val="FFFFFF"/>
                </a:highlight>
              </a:rPr>
              <a:t>4 AI-agenter</a:t>
            </a:r>
            <a:r>
              <a:rPr lang="sv-SE" sz="2000">
                <a:highlight>
                  <a:srgbClr val="FFFFFF"/>
                </a:highlight>
              </a:rPr>
              <a:t> som samarbetar för att analysera och förbättra resultatet.</a:t>
            </a:r>
            <a:endParaRPr sz="2000"/>
          </a:p>
        </p:txBody>
      </p:sp>
      <p:pic>
        <p:nvPicPr>
          <p:cNvPr id="1013" name="Google Shape;1013;p89" descr="En bild som visar text, Teckensnitt, linje, skärmbild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991" y="4793446"/>
            <a:ext cx="12215035" cy="949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8" name="Google Shape;1018;p90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19" name="Google Shape;1019;p90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90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90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2" name="Google Shape;1022;p90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sv-SE" b="1">
                <a:solidFill>
                  <a:srgbClr val="FFFFFF"/>
                </a:solidFill>
              </a:rPr>
              <a:t>Utan LLM vs Med LLM (multi-agent)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023" name="Google Shape;1023;p90"/>
          <p:cNvGraphicFramePr/>
          <p:nvPr/>
        </p:nvGraphicFramePr>
        <p:xfrm>
          <a:off x="68705" y="186752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{285BB7DE-8AC6-4827-B6FF-C3AD4FF48981}</a:tableStyleId>
              </a:tblPr>
              <a:tblGrid>
                <a:gridCol w="3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Aspekt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Utan LLM</a:t>
                      </a:r>
                      <a:r>
                        <a:rPr lang="sv-SE" sz="2400" b="0" u="none" strike="noStrike" cap="none"/>
                        <a:t> (bara Random Forest)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Med LLM (multi-agent)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Vad du får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Siffror: 99.1% precision, 96.7% recall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Förståelse</a:t>
                      </a:r>
                      <a:r>
                        <a:rPr lang="sv-SE" sz="2400" b="0" u="none" strike="noStrike" cap="none"/>
                        <a:t> + </a:t>
                      </a:r>
                      <a:r>
                        <a:rPr lang="sv-SE" sz="2400" b="1" u="none" strike="noStrike" cap="none"/>
                        <a:t>rekommendationer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709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Kan chefen förstå?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❌ Nej – bara tekniska siffror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✅ Ja – rapport på svenska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709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Vet du vad du ska göra härnäst?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❌ Nej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✅ Ja – "samla in 500 nya exempel"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709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Varför fungerar modellen?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❌ Vet inte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✅ "TOTAL_PRIVILEGE_ATTEMPTS är viktigast"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709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Tid att fatta beslut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0900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/>
                        <a:t>Timmar (analysera siffror själv)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1181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Minuter</a:t>
                      </a:r>
                      <a:r>
                        <a:rPr lang="sv-SE" sz="2400" b="0" u="none" strike="noStrike" cap="none"/>
                        <a:t> (AI gör jobbet)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8175" marR="7090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oogle Shape;1028;p91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29" name="Google Shape;1029;p91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91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91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2" name="Google Shape;1032;p91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Vad varje agent gör (och varför)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1033" name="Google Shape;1033;p91"/>
          <p:cNvGraphicFramePr/>
          <p:nvPr/>
        </p:nvGraphicFramePr>
        <p:xfrm>
          <a:off x="99934" y="1817557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138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</a:t>
                      </a:r>
                      <a:endParaRPr sz="24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800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den gör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Exempel från din körning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800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ML-analytiker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Läser dina siffror (99.1% precision, 23 missade)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"STYRKA: Hög precision, SVAGHET: 23 missade"</a:t>
                      </a:r>
                      <a:endParaRPr/>
                    </a:p>
                  </a:txBody>
                  <a:tcPr marL="169675" marR="101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800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Säkerhetsexpert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Tänker som en säkerhetschef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"RISK: Missade attacker kan leda till incidenter"</a:t>
                      </a:r>
                      <a:endParaRPr/>
                    </a:p>
                  </a:txBody>
                  <a:tcPr marL="169675" marR="101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800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Rapportskrivare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Skriver så att chefen förstår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"Rapport till ledningen: 99.1% precision..."</a:t>
                      </a:r>
                      <a:endParaRPr/>
                    </a:p>
                  </a:txBody>
                  <a:tcPr marL="169675" marR="101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1800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Kvalitetsgranskare</a:t>
                      </a:r>
                      <a:endParaRPr sz="1200"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Kortar ner och lägger till nästa steg</a:t>
                      </a:r>
                      <a:endParaRPr/>
                    </a:p>
                  </a:txBody>
                  <a:tcPr marL="169675" marR="1696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"Nästa steg: Samla in 500 nya exempel"</a:t>
                      </a:r>
                      <a:endParaRPr/>
                    </a:p>
                  </a:txBody>
                  <a:tcPr marL="169675" marR="1018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Google Shape;1038;p92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39" name="Google Shape;1039;p92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92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92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2" name="Google Shape;1042;p92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Resultat från DIN körning (steg för steg)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1043" name="Google Shape;1043;p92"/>
          <p:cNvGraphicFramePr/>
          <p:nvPr/>
        </p:nvGraphicFramePr>
        <p:xfrm>
          <a:off x="131163" y="1567721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197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hände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Resultat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Innan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Bara Random Forest siffror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99.1% precision, 96.7% recall, 23 missade</a:t>
                      </a:r>
                      <a:endParaRPr/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1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Analyserade siffrorna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"Hög precision men 23 missade attacker"</a:t>
                      </a:r>
                      <a:endParaRPr/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2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Tolkade säkerhetsrisken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"Risk: missade attacker kan vara allvarliga"</a:t>
                      </a:r>
                      <a:endParaRPr/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3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Skrev rapport till ledning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Professionell text på svenska</a:t>
                      </a:r>
                      <a:endParaRPr/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4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Förbättrade rapporten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Kortare + "Nästa steg: samla in 500 exempel"</a:t>
                      </a:r>
                      <a:endParaRPr/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Slutresultat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990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Åtgärdbar rekommendation</a:t>
                      </a:r>
                      <a:endParaRPr/>
                    </a:p>
                  </a:txBody>
                  <a:tcPr marL="183150" marR="18315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vet EXAKT vad du ska göra härnäst!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3150" marR="109900" marT="109900" marB="114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" name="Google Shape;1048;p93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49" name="Google Shape;1049;p93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93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93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2" name="Google Shape;1052;p93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Mono-agent vs Multi-agent (viktig skillnad)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1053" name="Google Shape;1053;p93"/>
          <p:cNvGraphicFramePr/>
          <p:nvPr/>
        </p:nvGraphicFramePr>
        <p:xfrm>
          <a:off x="231098" y="1698885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336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Aspekt</a:t>
                      </a:r>
                      <a:endParaRPr/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Mono-agent (1 AI)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Multi-agent (4 AI)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AI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Samarbete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Nej – en AI gör allt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 – specialiserade roller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Kvalitetskontroll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Ingen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Agent 4 granskar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Specialisering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En AI måste kunna allt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Var sin expertis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Resultatkvalitet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⭐⭐ OK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⭐⭐⭐⭐⭐ Mycket bättre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0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Används i produktion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0000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 (för enkelt)</a:t>
                      </a:r>
                      <a:endParaRPr/>
                    </a:p>
                  </a:txBody>
                  <a:tcPr marL="166675" marR="166675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(PGA TOUR, Workday, Accenture)</a:t>
                      </a:r>
                      <a:endParaRPr/>
                    </a:p>
                  </a:txBody>
                  <a:tcPr marL="166675" marR="100000" marT="100000" marB="104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8" name="Google Shape;1058;p94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59" name="Google Shape;1059;p94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94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94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2" name="Google Shape;1062;p94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lang="sv-SE" sz="3200">
                <a:solidFill>
                  <a:srgbClr val="FFFFFF"/>
                </a:solidFill>
              </a:rPr>
              <a:t>Varför LLM blir allt mer populärt (i produktion)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1063" name="Google Shape;1063;p94"/>
          <p:cNvGraphicFramePr/>
          <p:nvPr/>
        </p:nvGraphicFramePr>
        <p:xfrm>
          <a:off x="162393" y="165516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7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Anledning</a:t>
                      </a:r>
                      <a:endParaRPr/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Verkligt exempel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9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Förklarar ML-modeller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 ger bara siffror – LLM förklarar VARFÖR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Ditt projekt: "TOTAL_PRIVILEGE_ATTEMPTS är viktigast"</a:t>
                      </a:r>
                      <a:endParaRPr/>
                    </a:p>
                  </a:txBody>
                  <a:tcPr marL="154125" marR="9247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Automatiserar rapporter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Ingen vill läsa 100 sidor teknisk dokumentation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3 skrev rapport på 30 sekunder</a:t>
                      </a:r>
                      <a:endParaRPr/>
                    </a:p>
                  </a:txBody>
                  <a:tcPr marL="154125" marR="9247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Sparar tid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Från timmar till minuter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slapp analysera siffror själv</a:t>
                      </a:r>
                      <a:endParaRPr/>
                    </a:p>
                  </a:txBody>
                  <a:tcPr marL="154125" marR="9247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AI begriplig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Chefer förstår inte F1-score, men förstår "99% precision"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slutrapport är läsbar för alla</a:t>
                      </a:r>
                      <a:endParaRPr/>
                    </a:p>
                  </a:txBody>
                  <a:tcPr marL="154125" marR="9247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Multi-agent samarbete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247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AI kan ha fel – fyra AI som granskar varandra är säkrare</a:t>
                      </a:r>
                      <a:endParaRPr/>
                    </a:p>
                  </a:txBody>
                  <a:tcPr marL="154125" marR="15412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4 förbättrade Agent 3:s rapport</a:t>
                      </a:r>
                      <a:endParaRPr/>
                    </a:p>
                  </a:txBody>
                  <a:tcPr marL="154125" marR="92475" marT="64725" marB="64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Google Shape;1068;p95"/>
          <p:cNvGrpSpPr/>
          <p:nvPr/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69" name="Google Shape;1069;p95"/>
            <p:cNvSpPr/>
            <p:nvPr/>
          </p:nvSpPr>
          <p:spPr>
            <a:xfrm rot="-54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95"/>
            <p:cNvSpPr/>
            <p:nvPr/>
          </p:nvSpPr>
          <p:spPr>
            <a:xfrm rot="-54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5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95"/>
            <p:cNvSpPr/>
            <p:nvPr/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29000">
                  <a:srgbClr val="D86CCC">
                    <a:alpha val="0"/>
                  </a:srgbClr>
                </a:gs>
                <a:gs pos="100000">
                  <a:srgbClr val="78206E"/>
                </a:gs>
              </a:gsLst>
              <a:lin ang="1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2" name="Google Shape;1072;p95"/>
          <p:cNvSpPr txBox="1"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FAQ: Vanliga frågor och svar </a:t>
            </a:r>
            <a:endParaRPr sz="3600">
              <a:solidFill>
                <a:srgbClr val="FFFFFF"/>
              </a:solidFill>
            </a:endParaRPr>
          </a:p>
        </p:txBody>
      </p:sp>
      <p:graphicFrame>
        <p:nvGraphicFramePr>
          <p:cNvPr id="1073" name="Google Shape;1073;p95"/>
          <p:cNvGraphicFramePr/>
          <p:nvPr/>
        </p:nvGraphicFramePr>
        <p:xfrm>
          <a:off x="-1" y="15240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6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Kort svar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jag starta om alla celler varje morgon?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sparar allt automatiskt i molnet. Variablerna (X, y, modell) finns kvar även efter att du stängt webbläsaren.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händer med min API-nyckel när jag stänger webbläsaren?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Försvinner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API-nyckeln finns bara i minnet. Nästa dag måste du ange den igen – det är säkrare så!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Sparas Random Forest-modellen automatiskt?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kod i Steg 10/11 använder mlflow.sklearn.log_model() som sparar modellen i MLflow.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Sparas multi-agent systemet (LLM) automatiskt?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 är ett API-anrop (Grok/Gemini/Groq). Ingen modell att spara – bara API-nyckel behövs nästa dag.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ladda Random Forest från MLflow nästa dag?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 mlflow.sklearn.load_model() med ditt run-id.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 jag använda multi-agent LLM nästa dag?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 </a:t>
                      </a: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Ange bara API-nyckeln igen – ingen modell att ladda.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jag spara modellen i separat fil också?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 </a:t>
                      </a: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 räcker. Vill du vara extra säker kan du använda joblib.dump() som backup.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skillnaden mellan Random Forest och LLM?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🤖 </a:t>
                      </a: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 = tränad modell</a:t>
                      </a:r>
                      <a:br>
                        <a:rPr lang="sv-SE" sz="1600" b="0" u="none" strike="noStrike" cap="none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🌐 </a:t>
                      </a:r>
                      <a:r>
                        <a:rPr lang="sv-SE" sz="16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 = API-anrop</a:t>
                      </a:r>
                      <a:endParaRPr sz="16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 sparas som en fil i MLflow. LLM är ett moln-API – du anropar det varje gång.</a:t>
                      </a:r>
                      <a:endParaRPr/>
                    </a:p>
                  </a:txBody>
                  <a:tcPr marL="0" marR="90900" marT="606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6C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96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96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0" name="Google Shape;1080;p96"/>
          <p:cNvGrpSpPr/>
          <p:nvPr/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081" name="Google Shape;1081;p96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96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83" name="Google Shape;1083;p96" descr="En bild som visar text, diagram, Teckensnitt, Post-i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0745" y="3916436"/>
            <a:ext cx="8790048" cy="29413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4" name="Google Shape;1084;p96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085" name="Google Shape;1085;p96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96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96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96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96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96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96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2" name="Google Shape;1092;p96"/>
          <p:cNvSpPr txBox="1">
            <a:spLocks noGrp="1"/>
          </p:cNvSpPr>
          <p:nvPr>
            <p:ph type="title"/>
          </p:nvPr>
        </p:nvSpPr>
        <p:spPr>
          <a:xfrm>
            <a:off x="-600" y="235397"/>
            <a:ext cx="12194936" cy="175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Steg 11: MLflow – Ladda och använd sparad modell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1093" name="Google Shape;1093;p96"/>
          <p:cNvSpPr txBox="1">
            <a:spLocks noGrp="1"/>
          </p:cNvSpPr>
          <p:nvPr>
            <p:ph type="body" idx="1"/>
          </p:nvPr>
        </p:nvSpPr>
        <p:spPr>
          <a:xfrm>
            <a:off x="-601" y="1986597"/>
            <a:ext cx="12207428" cy="2039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sv-SE" sz="1800">
                <a:solidFill>
                  <a:schemeClr val="dk2"/>
                </a:solidFill>
                <a:highlight>
                  <a:srgbClr val="FFFFFF"/>
                </a:highlight>
              </a:rPr>
              <a:t>I Steg 11 laddar du din sparade Random Forest-modell från MLflow och testar den på olika scenarier. Detta visar att modellen kan </a:t>
            </a:r>
            <a:r>
              <a:rPr lang="sv-SE" sz="1800" b="1">
                <a:solidFill>
                  <a:schemeClr val="dk2"/>
                </a:solidFill>
                <a:highlight>
                  <a:srgbClr val="FFFFFF"/>
                </a:highlight>
              </a:rPr>
              <a:t>användas i produktion</a:t>
            </a:r>
            <a:r>
              <a:rPr lang="sv-SE" sz="1800">
                <a:solidFill>
                  <a:schemeClr val="dk2"/>
                </a:solidFill>
                <a:highlight>
                  <a:srgbClr val="FFFFFF"/>
                </a:highlight>
              </a:rPr>
              <a:t> för att upptäcka insiderhot.</a:t>
            </a:r>
            <a:endParaRPr sz="1800">
              <a:solidFill>
                <a:schemeClr val="dk2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sv-SE" sz="1800" b="1">
                <a:solidFill>
                  <a:schemeClr val="dk2"/>
                </a:solidFill>
                <a:highlight>
                  <a:srgbClr val="FFFFFF"/>
                </a:highlight>
              </a:rPr>
              <a:t>Enkelt förklarat:</a:t>
            </a:r>
            <a:r>
              <a:rPr lang="sv-SE" sz="1800">
                <a:solidFill>
                  <a:schemeClr val="dk2"/>
                </a:solidFill>
                <a:highlight>
                  <a:srgbClr val="FFFFFF"/>
                </a:highlight>
              </a:rPr>
              <a:t> Du hämtar din sparade modell från "modellbiblioteket" och testar att den fungerar på nya exempel.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97"/>
          <p:cNvSpPr/>
          <p:nvPr/>
        </p:nvSpPr>
        <p:spPr>
          <a:xfrm>
            <a:off x="3051" y="963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97"/>
          <p:cNvSpPr/>
          <p:nvPr/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0" name="Google Shape;1100;p97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01" name="Google Shape;1101;p9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9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3" name="Google Shape;1103;p97"/>
          <p:cNvSpPr/>
          <p:nvPr/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4" name="Google Shape;1104;p97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05" name="Google Shape;1105;p97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97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97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97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97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97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97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2" name="Google Shape;1112;p97"/>
          <p:cNvSpPr txBox="1">
            <a:spLocks noGrp="1"/>
          </p:cNvSpPr>
          <p:nvPr>
            <p:ph type="title"/>
          </p:nvPr>
        </p:nvSpPr>
        <p:spPr>
          <a:xfrm>
            <a:off x="638102" y="842332"/>
            <a:ext cx="2745622" cy="2782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Steg 11: Komplett tabell</a:t>
            </a:r>
            <a:endParaRPr/>
          </a:p>
        </p:txBody>
      </p:sp>
      <p:graphicFrame>
        <p:nvGraphicFramePr>
          <p:cNvPr id="1113" name="Google Shape;1113;p97"/>
          <p:cNvGraphicFramePr/>
          <p:nvPr/>
        </p:nvGraphicFramePr>
        <p:xfrm>
          <a:off x="3464029" y="5982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0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85650" marR="142725" marT="8565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42725" marR="142725" marT="8565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KOD</a:t>
                      </a:r>
                      <a:endParaRPr/>
                    </a:p>
                  </a:txBody>
                  <a:tcPr marL="142725" marR="142725" marT="8565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42725" marR="142725" marT="8565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11.1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Förstå MLflow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print("MLflow är inbyggt...")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för att spåra ML-experiment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11.2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Hitta Run ID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Leta i Databricks → Experiment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Unikt ID för din modell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11.3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modell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mlflow.sklearn.load_model()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Hämtar modellen från molnet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scaler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joblib.load(scaler_path)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Hämtar skalnings-objektet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11.5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metrics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mlflow.get_run(RUN_ID)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Visar precision, recall, f1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11.6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5650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Testa modell</a:t>
                      </a:r>
                      <a:endParaRPr/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loaded_model.predict()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2725" marR="142725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förutsägelser på ny data</a:t>
                      </a:r>
                      <a:endParaRPr/>
                    </a:p>
                  </a:txBody>
                  <a:tcPr marL="142725" marR="85650" marT="8920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98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98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0" name="Google Shape;1120;p98"/>
          <p:cNvGrpSpPr/>
          <p:nvPr/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121" name="Google Shape;1121;p9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9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3" name="Google Shape;1123;p98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24" name="Google Shape;1124;p98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98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98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98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98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98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98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1" name="Google Shape;1131;p98"/>
          <p:cNvSpPr txBox="1">
            <a:spLocks noGrp="1"/>
          </p:cNvSpPr>
          <p:nvPr>
            <p:ph type="title"/>
          </p:nvPr>
        </p:nvSpPr>
        <p:spPr>
          <a:xfrm>
            <a:off x="192276" y="1538675"/>
            <a:ext cx="5424000" cy="18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sv-SE" sz="6000">
                <a:solidFill>
                  <a:schemeClr val="lt1"/>
                </a:solidFill>
              </a:rPr>
              <a:t>Varje student får ett unikt Run ID</a:t>
            </a:r>
            <a:endParaRPr/>
          </a:p>
        </p:txBody>
      </p:sp>
      <p:sp>
        <p:nvSpPr>
          <p:cNvPr id="1132" name="Google Shape;1132;p98"/>
          <p:cNvSpPr txBox="1">
            <a:spLocks noGrp="1"/>
          </p:cNvSpPr>
          <p:nvPr>
            <p:ph type="body" idx="1"/>
          </p:nvPr>
        </p:nvSpPr>
        <p:spPr>
          <a:xfrm>
            <a:off x="-1446" y="3437658"/>
            <a:ext cx="6080410" cy="32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sv-SE" sz="2400" b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Hitta ditt Run ID:</a:t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1. Gå till vänstermenyn → "Experiment"</a:t>
            </a:r>
            <a:b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2. Klicka på "insider_threat_project"</a:t>
            </a:r>
            <a:b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3. Klicka på din körning (t.ex. "Random_Forest_Final_v2")</a:t>
            </a:r>
            <a:b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sv-SE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4. Kopiera "Run ID" från "Run details"</a:t>
            </a:r>
            <a:endParaRPr sz="2000" b="1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133" name="Google Shape;1133;p98"/>
          <p:cNvGraphicFramePr/>
          <p:nvPr/>
        </p:nvGraphicFramePr>
        <p:xfrm>
          <a:off x="5656881" y="1536915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595959"/>
                </a:solidFill>
                <a:tableStyleId>{0F4F30DF-796E-4B71-B604-BF9DE2107E0F}</a:tableStyleId>
              </a:tblPr>
              <a:tblGrid>
                <a:gridCol w="316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137475" marR="137475" marT="137475" marB="137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DITT SVAR</a:t>
                      </a:r>
                      <a:endParaRPr/>
                    </a:p>
                  </a:txBody>
                  <a:tcPr marL="137475" marR="137475" marT="137475" marB="137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hittar man Run ID?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650" marR="1527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Databricks → Experiment → din körning → Run details</a:t>
                      </a:r>
                      <a:endParaRPr/>
                    </a:p>
                  </a:txBody>
                  <a:tcPr marL="152750" marR="916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Är det samma för alla?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650" marR="1527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 – varje gång man tränar en modell får man ett NYTT unikt Run ID</a:t>
                      </a:r>
                      <a:endParaRPr/>
                    </a:p>
                  </a:txBody>
                  <a:tcPr marL="152750" marR="916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gör man med det?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650" marR="1527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 byter ut RUN_ID = "..." mot sitt eget ID</a:t>
                      </a:r>
                      <a:endParaRPr/>
                    </a:p>
                  </a:txBody>
                  <a:tcPr marL="152750" marR="916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man ändra annat?</a:t>
                      </a:r>
                      <a:endParaRPr sz="20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650" marR="1527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Nej – bara Run ID</a:t>
                      </a:r>
                      <a:endParaRPr/>
                    </a:p>
                  </a:txBody>
                  <a:tcPr marL="152750" marR="91650" marT="95475" marB="9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9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99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0" name="Google Shape;1140;p99"/>
          <p:cNvGrpSpPr/>
          <p:nvPr/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141" name="Google Shape;1141;p9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9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43" name="Google Shape;1143;p99" descr="En bild som visar text, skärmbild, Teckensnitt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0661" y="653615"/>
            <a:ext cx="2437601" cy="55400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4" name="Google Shape;1144;p99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45" name="Google Shape;1145;p99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99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99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99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99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99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99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2" name="Google Shape;1152;p99"/>
          <p:cNvSpPr txBox="1">
            <a:spLocks noGrp="1"/>
          </p:cNvSpPr>
          <p:nvPr>
            <p:ph type="title"/>
          </p:nvPr>
        </p:nvSpPr>
        <p:spPr>
          <a:xfrm>
            <a:off x="-1445" y="1758"/>
            <a:ext cx="6068842" cy="88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Var hittar du Run ID?</a:t>
            </a:r>
            <a:endParaRPr/>
          </a:p>
        </p:txBody>
      </p:sp>
      <p:graphicFrame>
        <p:nvGraphicFramePr>
          <p:cNvPr id="1153" name="Google Shape;1153;p99"/>
          <p:cNvGraphicFramePr/>
          <p:nvPr/>
        </p:nvGraphicFramePr>
        <p:xfrm>
          <a:off x="257014" y="170938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56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vänstermenyn</a:t>
                      </a: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i Databricks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"Experiment"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 insider_threat_project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 körningen Random_Forest_Final_v2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"Run details"</a:t>
                      </a: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ser du </a:t>
                      </a: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Run ID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00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100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0" name="Google Shape;1160;p100"/>
          <p:cNvGrpSpPr/>
          <p:nvPr/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161" name="Google Shape;1161;p100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00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63" name="Google Shape;1163;p100" descr="En bild som visar text, skärmbild, diagram, Teckensnit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91" y="1203237"/>
            <a:ext cx="12195230" cy="22946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4" name="Google Shape;1164;p100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65" name="Google Shape;1165;p100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00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00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00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00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00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00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2" name="Google Shape;1172;p100"/>
          <p:cNvSpPr txBox="1">
            <a:spLocks noGrp="1"/>
          </p:cNvSpPr>
          <p:nvPr>
            <p:ph type="title"/>
          </p:nvPr>
        </p:nvSpPr>
        <p:spPr>
          <a:xfrm>
            <a:off x="1525" y="95275"/>
            <a:ext cx="11538300" cy="6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Varför MLflow behövs</a:t>
            </a:r>
            <a:endParaRPr/>
          </a:p>
        </p:txBody>
      </p:sp>
      <p:graphicFrame>
        <p:nvGraphicFramePr>
          <p:cNvPr id="1173" name="Google Shape;1173;p100"/>
          <p:cNvGraphicFramePr/>
          <p:nvPr/>
        </p:nvGraphicFramePr>
        <p:xfrm>
          <a:off x="-1292" y="3659591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192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Verkligt företag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Problem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Lösning med MLflow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Spotify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100+ data scientists tränar rekommendationsmodeller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Alla modeller sparas centralt, bästa väljs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Uber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ETA-modeller tränas varje dag för varje stad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Automatisk spårning – vilken modell gav bäst ETA?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Airbnb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Pris-prediktioner för 7 miljoner annonser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 modeller – vilken gav högst intäkter?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Banker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Bedrägeridetektering måste vara spårbar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Revisorer kan se EXAKT vilken modell som användes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01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01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0" name="Google Shape;1180;p101"/>
          <p:cNvGrpSpPr/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181" name="Google Shape;1181;p101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01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3" name="Google Shape;1183;p101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84" name="Google Shape;1184;p101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01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01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01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01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01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01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1" name="Google Shape;1191;p101"/>
          <p:cNvSpPr txBox="1">
            <a:spLocks noGrp="1"/>
          </p:cNvSpPr>
          <p:nvPr>
            <p:ph type="title"/>
          </p:nvPr>
        </p:nvSpPr>
        <p:spPr>
          <a:xfrm>
            <a:off x="-1445" y="1757"/>
            <a:ext cx="4703446" cy="2033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Dina testresultat (vad modellen lärde sig)</a:t>
            </a:r>
            <a:endParaRPr sz="4800">
              <a:solidFill>
                <a:schemeClr val="lt1"/>
              </a:solidFill>
            </a:endParaRPr>
          </a:p>
        </p:txBody>
      </p:sp>
      <p:graphicFrame>
        <p:nvGraphicFramePr>
          <p:cNvPr id="1192" name="Google Shape;1192;p101"/>
          <p:cNvGraphicFramePr/>
          <p:nvPr/>
        </p:nvGraphicFramePr>
        <p:xfrm>
          <a:off x="4701152" y="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</a:t>
                      </a:r>
                      <a:endParaRPr/>
                    </a:p>
                  </a:txBody>
                  <a:tcPr marL="820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Scenario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Modellens dom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Sannolikhet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Rätt/Fel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0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Normal användare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NORMAL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94.4%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Rätt</a:t>
                      </a:r>
                      <a:endParaRPr/>
                    </a:p>
                  </a:txBody>
                  <a:tcPr marL="136750" marR="820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0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 misslyckade inloggningar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⚠️ ATTACK!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97.0%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Rätt</a:t>
                      </a:r>
                      <a:endParaRPr/>
                    </a:p>
                  </a:txBody>
                  <a:tcPr marL="136750" marR="820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0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Root + SU attempt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⚠️ ATTACK!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100.0%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Rätt</a:t>
                      </a:r>
                      <a:endParaRPr/>
                    </a:p>
                  </a:txBody>
                  <a:tcPr marL="136750" marR="820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0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Stor dataöverföring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NORMAL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91.0%</a:t>
                      </a:r>
                      <a:endParaRPr/>
                    </a:p>
                  </a:txBody>
                  <a:tcPr marL="136750" marR="1367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1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sv-SE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Rätt</a:t>
                      </a:r>
                      <a:endParaRPr/>
                    </a:p>
                  </a:txBody>
                  <a:tcPr marL="136750" marR="82050" marT="85475" marB="85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93" name="Google Shape;1193;p101" descr="En bild som visar text, skärmbild, Teckensnitt, diagram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3153" y="3233381"/>
            <a:ext cx="8885695" cy="362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02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02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0" name="Google Shape;1200;p102"/>
          <p:cNvGrpSpPr/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201" name="Google Shape;1201;p102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02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3" name="Google Shape;1203;p102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04" name="Google Shape;1204;p102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02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02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02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02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02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02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1" name="Google Shape;1211;p102"/>
          <p:cNvSpPr txBox="1">
            <a:spLocks noGrp="1"/>
          </p:cNvSpPr>
          <p:nvPr>
            <p:ph type="title"/>
          </p:nvPr>
        </p:nvSpPr>
        <p:spPr>
          <a:xfrm>
            <a:off x="-598" y="23035"/>
            <a:ext cx="4683225" cy="190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Dina testresultat (vad modellen lärde sig)</a:t>
            </a:r>
            <a:endParaRPr/>
          </a:p>
        </p:txBody>
      </p:sp>
      <p:graphicFrame>
        <p:nvGraphicFramePr>
          <p:cNvPr id="1212" name="Google Shape;1212;p102"/>
          <p:cNvGraphicFramePr/>
          <p:nvPr/>
        </p:nvGraphicFramePr>
        <p:xfrm>
          <a:off x="4709409" y="2498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{F9D133F2-2C71-4767-A39D-88F58E4C8B90}</a:tableStyleId>
              </a:tblPr>
              <a:tblGrid>
                <a:gridCol w="65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Test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Scenario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Modellens dom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Sannolikhet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Rätt/Fel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Normal användare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NORMAL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94.4%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Rätt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82950" marT="86400" marB="86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2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5 misslyckade inloggningar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⚠️ ATTACK!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97.0%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Rätt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82950" marT="86400" marB="86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3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Root + SU attempt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⚠️ ATTACK!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100.0%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Rätt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82950" marT="86400" marB="86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4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Stor dataöverföring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NORMAL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91.0%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138250" marT="86400" marB="86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✅ Rätt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8250" marR="82950" marT="86400" marB="86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13" name="Google Shape;1213;p102" descr="En bild som visar text, skärmbild, Teckensnitt, diagram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0148" y="3315847"/>
            <a:ext cx="8831706" cy="3542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03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03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0" name="Google Shape;1220;p103"/>
          <p:cNvGrpSpPr/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221" name="Google Shape;1221;p103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03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3" name="Google Shape;1223;p103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24" name="Google Shape;1224;p103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03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03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03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03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03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03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1" name="Google Shape;1231;p103"/>
          <p:cNvSpPr txBox="1"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Så här skulle detta användas i riktig produktion</a:t>
            </a:r>
            <a:endParaRPr/>
          </a:p>
        </p:txBody>
      </p:sp>
      <p:graphicFrame>
        <p:nvGraphicFramePr>
          <p:cNvPr id="1232" name="Google Shape;1232;p103"/>
          <p:cNvGraphicFramePr/>
          <p:nvPr/>
        </p:nvGraphicFramePr>
        <p:xfrm>
          <a:off x="4714067" y="17693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54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 I PRODUKTION</a:t>
                      </a:r>
                      <a:endParaRPr/>
                    </a:p>
                  </a:txBody>
                  <a:tcPr marL="87100" marR="145175" marT="87100" marB="871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SOM HÄNDER</a:t>
                      </a:r>
                      <a:endParaRPr/>
                    </a:p>
                  </a:txBody>
                  <a:tcPr marL="145175" marR="145175" marT="87100" marB="871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MLFLOWS ROLL</a:t>
                      </a:r>
                      <a:endParaRPr/>
                    </a:p>
                  </a:txBody>
                  <a:tcPr marL="145175" marR="145175" marT="87100" marB="871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100" marR="145175" marT="90725" marB="871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Ny data kommer in (användarbeteende)</a:t>
                      </a:r>
                      <a:endParaRPr/>
                    </a:p>
                  </a:txBody>
                  <a:tcPr marL="145175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</a:t>
                      </a:r>
                      <a:endParaRPr/>
                    </a:p>
                  </a:txBody>
                  <a:tcPr marL="145175" marR="87100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100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 laddas från MLflow</a:t>
                      </a:r>
                      <a:endParaRPr/>
                    </a:p>
                  </a:txBody>
                  <a:tcPr marL="145175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mlflow.sklearn.load_model()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5175" marR="87100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100" marR="145175" marT="90725" marB="871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Förutsägelse görs</a:t>
                      </a:r>
                      <a:endParaRPr/>
                    </a:p>
                  </a:txBody>
                  <a:tcPr marL="145175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model.predict()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5175" marR="87100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100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Resultat loggas tillbaka till MLflow</a:t>
                      </a:r>
                      <a:endParaRPr/>
                    </a:p>
                  </a:txBody>
                  <a:tcPr marL="145175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mlflow.log_metric()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5175" marR="87100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2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100" marR="145175" marT="90725" marB="871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Om modellen blir sämre – byt till äldre version</a:t>
                      </a:r>
                      <a:endParaRPr/>
                    </a:p>
                  </a:txBody>
                  <a:tcPr marL="145175" marR="145175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Registry</a:t>
                      </a:r>
                      <a:endParaRPr/>
                    </a:p>
                  </a:txBody>
                  <a:tcPr marL="145175" marR="87100" marT="90725" marB="871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04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04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9" name="Google Shape;1239;p104"/>
          <p:cNvGrpSpPr/>
          <p:nvPr/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240" name="Google Shape;1240;p104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04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2" name="Google Shape;1242;p104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43" name="Google Shape;1243;p104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04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04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04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04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04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04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0" name="Google Shape;1250;p104"/>
          <p:cNvSpPr txBox="1"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Varför MLflow är industri-standard</a:t>
            </a:r>
            <a:endParaRPr sz="4800">
              <a:solidFill>
                <a:schemeClr val="lt1"/>
              </a:solidFill>
            </a:endParaRPr>
          </a:p>
        </p:txBody>
      </p:sp>
      <p:graphicFrame>
        <p:nvGraphicFramePr>
          <p:cNvPr id="1251" name="Google Shape;1251;p104"/>
          <p:cNvGraphicFramePr/>
          <p:nvPr/>
        </p:nvGraphicFramePr>
        <p:xfrm>
          <a:off x="4714067" y="165315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0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Utan MLflow</a:t>
                      </a:r>
                      <a:endParaRPr/>
                    </a:p>
                  </a:txBody>
                  <a:tcPr marL="0" marR="1157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 MLflow</a:t>
                      </a:r>
                      <a:endParaRPr/>
                    </a:p>
                  </a:txBody>
                  <a:tcPr marL="0" marR="1157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Modeller sparas på olika datorer</a:t>
                      </a:r>
                      <a:endParaRPr/>
                    </a:p>
                  </a:txBody>
                  <a:tcPr marL="0" marR="193050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Alla modeller centralt</a:t>
                      </a:r>
                      <a:endParaRPr/>
                    </a:p>
                  </a:txBody>
                  <a:tcPr marL="0" marR="11582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"Vilken modell var bäst?" – vet inte</a:t>
                      </a:r>
                      <a:endParaRPr/>
                    </a:p>
                  </a:txBody>
                  <a:tcPr marL="57900" marR="193050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Jämför metrics i dashboard</a:t>
                      </a:r>
                      <a:endParaRPr/>
                    </a:p>
                  </a:txBody>
                  <a:tcPr marL="57900" marR="11582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Kan inte återskapa resultat</a:t>
                      </a:r>
                      <a:endParaRPr/>
                    </a:p>
                  </a:txBody>
                  <a:tcPr marL="0" marR="193050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Reproducerbarhet</a:t>
                      </a:r>
                      <a:endParaRPr/>
                    </a:p>
                  </a:txBody>
                  <a:tcPr marL="0" marR="11582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Ingen spårning för revisorer</a:t>
                      </a:r>
                      <a:endParaRPr/>
                    </a:p>
                  </a:txBody>
                  <a:tcPr marL="57900" marR="193050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Full spårbarhet</a:t>
                      </a:r>
                      <a:endParaRPr/>
                    </a:p>
                  </a:txBody>
                  <a:tcPr marL="57900" marR="11582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Svårt att byta modell i produktion</a:t>
                      </a:r>
                      <a:endParaRPr/>
                    </a:p>
                  </a:txBody>
                  <a:tcPr marL="0" marR="193050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Model Registry med versioner</a:t>
                      </a:r>
                      <a:endParaRPr/>
                    </a:p>
                  </a:txBody>
                  <a:tcPr marL="0" marR="115825" marT="120650" marB="120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05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7" name="Google Shape;1257;p105"/>
          <p:cNvGrpSpPr/>
          <p:nvPr/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258" name="Google Shape;1258;p105"/>
            <p:cNvSpPr/>
            <p:nvPr/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784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05"/>
            <p:cNvSpPr/>
            <p:nvPr/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0" name="Google Shape;1260;p105"/>
          <p:cNvGrpSpPr/>
          <p:nvPr/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261" name="Google Shape;1261;p105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05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63" name="Google Shape;1263;p105" descr="En bild som visar text, diagram, skärmbild, Teckensnit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5770" y="802"/>
            <a:ext cx="3661381" cy="68518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4" name="Google Shape;1264;p105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65" name="Google Shape;1265;p105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05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05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05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05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05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05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2" name="Google Shape;1272;p105"/>
          <p:cNvSpPr txBox="1">
            <a:spLocks noGrp="1"/>
          </p:cNvSpPr>
          <p:nvPr>
            <p:ph type="title"/>
          </p:nvPr>
        </p:nvSpPr>
        <p:spPr>
          <a:xfrm>
            <a:off x="652723" y="819015"/>
            <a:ext cx="6382219" cy="235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</a:rPr>
              <a:t>Steg 11.4: A/B-Testning – Jämför modellversioner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1273" name="Google Shape;1273;p105"/>
          <p:cNvSpPr txBox="1">
            <a:spLocks noGrp="1"/>
          </p:cNvSpPr>
          <p:nvPr>
            <p:ph type="body" idx="1"/>
          </p:nvPr>
        </p:nvSpPr>
        <p:spPr>
          <a:xfrm>
            <a:off x="652723" y="3429599"/>
            <a:ext cx="6731990" cy="2723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v-SE" sz="2400">
                <a:highlight>
                  <a:srgbClr val="FFFFFF"/>
                </a:highlight>
              </a:rPr>
              <a:t>Du A/B-testar </a:t>
            </a:r>
            <a:r>
              <a:rPr lang="sv-SE" sz="2400" b="1">
                <a:highlight>
                  <a:srgbClr val="FFFFFF"/>
                </a:highlight>
              </a:rPr>
              <a:t>två versioner av samma Random Forest-modell</a:t>
            </a:r>
            <a:r>
              <a:rPr lang="sv-SE" sz="2400">
                <a:highlight>
                  <a:srgbClr val="FFFFFF"/>
                </a:highlight>
              </a:rPr>
              <a:t> för att se vilken som presterar bäst i produktion. Detta är exakt hur Netflix, Spotify och Uber testar nya modellversioner innan de rullas ut till alla användare.</a:t>
            </a:r>
            <a:endParaRPr sz="240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06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06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0" name="Google Shape;1280;p106"/>
          <p:cNvGrpSpPr/>
          <p:nvPr/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281" name="Google Shape;1281;p106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06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3" name="Google Shape;1283;p106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84" name="Google Shape;1284;p106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06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06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06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06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06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06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1" name="Google Shape;1291;p106"/>
          <p:cNvSpPr txBox="1">
            <a:spLocks noGrp="1"/>
          </p:cNvSpPr>
          <p:nvPr>
            <p:ph type="title"/>
          </p:nvPr>
        </p:nvSpPr>
        <p:spPr>
          <a:xfrm>
            <a:off x="1012644" y="841664"/>
            <a:ext cx="4608768" cy="2782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sv-SE" sz="4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Steg 11.4: Komplett tabell</a:t>
            </a:r>
            <a:endParaRPr/>
          </a:p>
        </p:txBody>
      </p:sp>
      <p:graphicFrame>
        <p:nvGraphicFramePr>
          <p:cNvPr id="1292" name="Google Shape;1292;p106"/>
          <p:cNvGraphicFramePr/>
          <p:nvPr/>
        </p:nvGraphicFramePr>
        <p:xfrm>
          <a:off x="6071016" y="91814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3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44900" marR="106875" marT="12825" marB="962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44900" marR="106875" marT="12825" marB="962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Kod</a:t>
                      </a:r>
                      <a:endParaRPr/>
                    </a:p>
                  </a:txBody>
                  <a:tcPr marL="44900" marR="106875" marT="12825" marB="962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44900" marR="106875" marT="12825" marB="9620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11.4.1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Ladda Version A (v1.0)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mlflow.sklearn.load_model()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 bästa modell från Steg 10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11.4.2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Träna Version B (v1.1)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RandomForestClassifier(n_estimators=200, max_depth=15)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Ny version med fler träd och djupare träd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11.4.3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Offline-jämförelse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precision_score(), recall_score(), f1_score()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 på testdata innan produktion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11.4.4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Simulera A/B-test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Hash-baserad routing (70/30 trafikdelning)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70% användare → v1.0, 30% → v1.1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11.4.5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Analysera resultat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Jämför korrekthet i live-testet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Välj vinnare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11.4.6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900" marR="106875" marT="12825" marB="962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Rekommendation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Baserat på resultat</a:t>
                      </a:r>
                      <a:endParaRPr/>
                    </a:p>
                  </a:txBody>
                  <a:tcPr marL="44900" marR="10687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sv-SE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Behåll v1.0 eller uppgradera till v1.1</a:t>
                      </a:r>
                      <a:endParaRPr/>
                    </a:p>
                  </a:txBody>
                  <a:tcPr marL="44900" marR="64125" marT="12825" marB="9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07"/>
          <p:cNvSpPr/>
          <p:nvPr/>
        </p:nvSpPr>
        <p:spPr>
          <a:xfrm>
            <a:off x="3051" y="963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07"/>
          <p:cNvSpPr/>
          <p:nvPr/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9" name="Google Shape;1299;p107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00" name="Google Shape;1300;p10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0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2" name="Google Shape;1302;p107"/>
          <p:cNvSpPr/>
          <p:nvPr/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3" name="Google Shape;1303;p107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304" name="Google Shape;1304;p107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07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07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07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07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07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07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1" name="Google Shape;1311;p107"/>
          <p:cNvSpPr txBox="1">
            <a:spLocks noGrp="1"/>
          </p:cNvSpPr>
          <p:nvPr>
            <p:ph type="title"/>
          </p:nvPr>
        </p:nvSpPr>
        <p:spPr>
          <a:xfrm>
            <a:off x="652799" y="840550"/>
            <a:ext cx="3234900" cy="27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lay"/>
              <a:buNone/>
            </a:pPr>
            <a:r>
              <a:rPr lang="sv-SE" sz="35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Resultat från din A/B-testning. Offline-jämförelse (testdata)</a:t>
            </a:r>
            <a:endParaRPr sz="4200"/>
          </a:p>
        </p:txBody>
      </p:sp>
      <p:graphicFrame>
        <p:nvGraphicFramePr>
          <p:cNvPr id="1312" name="Google Shape;1312;p107"/>
          <p:cNvGraphicFramePr/>
          <p:nvPr/>
        </p:nvGraphicFramePr>
        <p:xfrm>
          <a:off x="4022860" y="7859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{F9D133F2-2C71-4767-A39D-88F58E4C8B90}</a:tableStyleId>
              </a:tblPr>
              <a:tblGrid>
                <a:gridCol w="105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Version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Parametrar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Precision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Recall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F1-score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Accuracy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v1.0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n_estimators=100, max_depth=10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99.1%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96.7%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0.979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96.4%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75775" marT="78925" marB="789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v1.1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7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n_estimators=200, max_depth=15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98.7%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/>
                        <a:t>97.0%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0.978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78925" marB="789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/>
                        <a:t>96.3%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75775" marT="78925" marB="789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13" name="Google Shape;1313;p107"/>
          <p:cNvSpPr txBox="1"/>
          <p:nvPr/>
        </p:nvSpPr>
        <p:spPr>
          <a:xfrm>
            <a:off x="3048000" y="3622623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Live A/B-test (100 simuleringar, 70/30 trafikdelning)</a:t>
            </a:r>
            <a:endParaRPr/>
          </a:p>
        </p:txBody>
      </p:sp>
      <p:graphicFrame>
        <p:nvGraphicFramePr>
          <p:cNvPr id="1314" name="Google Shape;1314;p107"/>
          <p:cNvGraphicFramePr/>
          <p:nvPr/>
        </p:nvGraphicFramePr>
        <p:xfrm>
          <a:off x="1011836" y="398946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215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Mätvärde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A (v1.0)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B (v1.1)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Skillnad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Trafikandel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71%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29%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Enligt plan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Korrekthet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97.2%</a:t>
                      </a: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 (69/71)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89.7% (26/29)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+7.5%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Rätt/fel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69 rätt, 2 fel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26 rätt, 3 fel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 gör färre fel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08"/>
          <p:cNvSpPr/>
          <p:nvPr/>
        </p:nvSpPr>
        <p:spPr>
          <a:xfrm>
            <a:off x="3051" y="963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108"/>
          <p:cNvSpPr/>
          <p:nvPr/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1" name="Google Shape;1321;p108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22" name="Google Shape;1322;p10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0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4" name="Google Shape;1324;p108"/>
          <p:cNvSpPr/>
          <p:nvPr/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5" name="Google Shape;1325;p108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326" name="Google Shape;1326;p108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08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08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08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08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08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08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3" name="Google Shape;1333;p108"/>
          <p:cNvSpPr txBox="1">
            <a:spLocks noGrp="1"/>
          </p:cNvSpPr>
          <p:nvPr>
            <p:ph type="title"/>
          </p:nvPr>
        </p:nvSpPr>
        <p:spPr>
          <a:xfrm>
            <a:off x="656628" y="842332"/>
            <a:ext cx="3422721" cy="2782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lay"/>
              <a:buNone/>
            </a:pPr>
            <a:r>
              <a:rPr lang="sv-SE" sz="32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Slutsats och rekommendation</a:t>
            </a:r>
            <a:endParaRPr sz="3900"/>
          </a:p>
        </p:txBody>
      </p:sp>
      <p:graphicFrame>
        <p:nvGraphicFramePr>
          <p:cNvPr id="1334" name="Google Shape;1334;p108"/>
          <p:cNvGraphicFramePr/>
          <p:nvPr/>
        </p:nvGraphicFramePr>
        <p:xfrm>
          <a:off x="4119755" y="1127429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chemeClr val="lt1"/>
                </a:solidFill>
                <a:tableStyleId>{0F4F30DF-796E-4B71-B604-BF9DE2107E0F}</a:tableStyleId>
              </a:tblPr>
              <a:tblGrid>
                <a:gridCol w="273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/>
                    </a:p>
                  </a:txBody>
                  <a:tcPr marL="157800" marR="202300" marT="121375" marB="121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Arial"/>
                        <a:buNone/>
                      </a:pPr>
                      <a:r>
                        <a:rPr lang="sv-SE" sz="36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157800" marR="202300" marT="121375" marB="121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Vilken version vann?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7800" marR="202300" marT="121375" marB="121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A (v1.0)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din ursprungliga modell</a:t>
                      </a:r>
                      <a:endParaRPr/>
                    </a:p>
                  </a:txBody>
                  <a:tcPr marL="157800" marR="121375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7800" marR="202300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Högre precision (99.1%) och bättre live-prestanda (97.2% vs 89.7%)</a:t>
                      </a:r>
                      <a:endParaRPr/>
                    </a:p>
                  </a:txBody>
                  <a:tcPr marL="157800" marR="121375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lärde vi oss?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7800" marR="202300" marT="121375" marB="121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Fler träd (200 vs 100) och djupare träd (15 vs 10) gav </a:t>
                      </a: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ingen förbättring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tvärtom, det orsakade överanpassning</a:t>
                      </a:r>
                      <a:endParaRPr/>
                    </a:p>
                  </a:txBody>
                  <a:tcPr marL="157800" marR="121375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Rekommendation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7800" marR="202300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Behåll v1.0 i produktion</a:t>
                      </a: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– testa andra parametrar istället</a:t>
                      </a:r>
                      <a:endParaRPr/>
                    </a:p>
                  </a:txBody>
                  <a:tcPr marL="157800" marR="121375" marT="121375" marB="121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09"/>
          <p:cNvSpPr/>
          <p:nvPr/>
        </p:nvSpPr>
        <p:spPr>
          <a:xfrm>
            <a:off x="3051" y="963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109"/>
          <p:cNvSpPr/>
          <p:nvPr/>
        </p:nvSpPr>
        <p:spPr>
          <a:xfrm>
            <a:off x="3051" y="4119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1" name="Google Shape;1341;p109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42" name="Google Shape;1342;p10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0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4" name="Google Shape;1344;p109"/>
          <p:cNvSpPr/>
          <p:nvPr/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5" name="Google Shape;1345;p109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346" name="Google Shape;1346;p109"/>
            <p:cNvSpPr/>
            <p:nvPr/>
          </p:nvSpPr>
          <p:spPr>
            <a:xfrm>
              <a:off x="26122" y="6015669"/>
              <a:ext cx="2605762" cy="842331"/>
            </a:xfrm>
            <a:custGeom>
              <a:avLst/>
              <a:gdLst/>
              <a:ahLst/>
              <a:cxnLst/>
              <a:rect l="l" t="t" r="r" b="b"/>
              <a:pathLst>
                <a:path w="3180577" h="1033951" extrusionOk="0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09"/>
            <p:cNvSpPr/>
            <p:nvPr/>
          </p:nvSpPr>
          <p:spPr>
            <a:xfrm>
              <a:off x="655184" y="5798001"/>
              <a:ext cx="2485581" cy="1059999"/>
            </a:xfrm>
            <a:custGeom>
              <a:avLst/>
              <a:gdLst/>
              <a:ahLst/>
              <a:cxnLst/>
              <a:rect l="l" t="t" r="r" b="b"/>
              <a:pathLst>
                <a:path w="2449768" h="1050628" extrusionOk="0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09"/>
            <p:cNvSpPr/>
            <p:nvPr/>
          </p:nvSpPr>
          <p:spPr>
            <a:xfrm>
              <a:off x="3474720" y="0"/>
              <a:ext cx="6177282" cy="1778750"/>
            </a:xfrm>
            <a:custGeom>
              <a:avLst/>
              <a:gdLst/>
              <a:ahLst/>
              <a:cxnLst/>
              <a:rect l="l" t="t" r="r" b="b"/>
              <a:pathLst>
                <a:path w="6386648" h="1849426" extrusionOk="0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09"/>
            <p:cNvSpPr/>
            <p:nvPr/>
          </p:nvSpPr>
          <p:spPr>
            <a:xfrm>
              <a:off x="0" y="2390523"/>
              <a:ext cx="611491" cy="1421482"/>
            </a:xfrm>
            <a:custGeom>
              <a:avLst/>
              <a:gdLst/>
              <a:ahLst/>
              <a:cxnLst/>
              <a:rect l="l" t="t" r="r" b="b"/>
              <a:pathLst>
                <a:path w="611491" h="1429512" extrusionOk="0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09"/>
            <p:cNvSpPr/>
            <p:nvPr/>
          </p:nvSpPr>
          <p:spPr>
            <a:xfrm>
              <a:off x="3792772" y="0"/>
              <a:ext cx="2423863" cy="1343767"/>
            </a:xfrm>
            <a:custGeom>
              <a:avLst/>
              <a:gdLst/>
              <a:ahLst/>
              <a:cxnLst/>
              <a:rect l="l" t="t" r="r" b="b"/>
              <a:pathLst>
                <a:path w="3015964" h="1681468" extrusionOk="0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09"/>
            <p:cNvSpPr/>
            <p:nvPr/>
          </p:nvSpPr>
          <p:spPr>
            <a:xfrm>
              <a:off x="10946850" y="0"/>
              <a:ext cx="1242102" cy="2620884"/>
            </a:xfrm>
            <a:custGeom>
              <a:avLst/>
              <a:gdLst/>
              <a:ahLst/>
              <a:cxnLst/>
              <a:rect l="l" t="t" r="r" b="b"/>
              <a:pathLst>
                <a:path w="1242102" h="2635689" extrusionOk="0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09"/>
            <p:cNvSpPr/>
            <p:nvPr/>
          </p:nvSpPr>
          <p:spPr>
            <a:xfrm>
              <a:off x="0" y="0"/>
              <a:ext cx="1577788" cy="980141"/>
            </a:xfrm>
            <a:custGeom>
              <a:avLst/>
              <a:gdLst/>
              <a:ahLst/>
              <a:cxnLst/>
              <a:rect l="l" t="t" r="r" b="b"/>
              <a:pathLst>
                <a:path w="1471018" h="795676" extrusionOk="0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3" name="Google Shape;1353;p109"/>
          <p:cNvSpPr txBox="1">
            <a:spLocks noGrp="1"/>
          </p:cNvSpPr>
          <p:nvPr>
            <p:ph type="title"/>
          </p:nvPr>
        </p:nvSpPr>
        <p:spPr>
          <a:xfrm>
            <a:off x="1025136" y="11625"/>
            <a:ext cx="10855343" cy="695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sv-SE" sz="4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Varför A/B-testning är viktigt i produktion</a:t>
            </a:r>
            <a:endParaRPr sz="4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354" name="Google Shape;1354;p109"/>
          <p:cNvGraphicFramePr/>
          <p:nvPr/>
        </p:nvGraphicFramePr>
        <p:xfrm>
          <a:off x="4572000" y="599606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346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Utan A/B-test</a:t>
                      </a:r>
                      <a:endParaRPr/>
                    </a:p>
                  </a:txBody>
                  <a:tcPr marL="84875" marR="202075" marT="24250" marB="1818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 A/B-test</a:t>
                      </a:r>
                      <a:endParaRPr/>
                    </a:p>
                  </a:txBody>
                  <a:tcPr marL="84875" marR="202075" marT="24250" marB="1818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Du vet inte om nya modellen är bättre</a:t>
                      </a:r>
                      <a:endParaRPr/>
                    </a:p>
                  </a:txBody>
                  <a:tcPr marL="84875" marR="202075" marT="24250" marB="181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Du jämför direkt på riktig användardata</a:t>
                      </a:r>
                      <a:endParaRPr/>
                    </a:p>
                  </a:txBody>
                  <a:tcPr marL="84875" marR="121250" marT="24250" marB="181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Kan rulla ut en sämre modell</a:t>
                      </a:r>
                      <a:endParaRPr/>
                    </a:p>
                  </a:txBody>
                  <a:tcPr marL="84875" marR="202075" marT="24250" marB="181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Upptäcker problem innan full rollout</a:t>
                      </a:r>
                      <a:endParaRPr/>
                    </a:p>
                  </a:txBody>
                  <a:tcPr marL="84875" marR="121250" marT="24250" marB="181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Gissning baserad på offline-test</a:t>
                      </a:r>
                      <a:endParaRPr/>
                    </a:p>
                  </a:txBody>
                  <a:tcPr marL="84875" marR="202075" marT="24250" marB="181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Datadrivet beslut</a:t>
                      </a:r>
                      <a:endParaRPr/>
                    </a:p>
                  </a:txBody>
                  <a:tcPr marL="84875" marR="121250" marT="24250" marB="181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Riskerar användarupplevelsen</a:t>
                      </a:r>
                      <a:endParaRPr/>
                    </a:p>
                  </a:txBody>
                  <a:tcPr marL="84875" marR="202075" marT="24250" marB="1818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30% trafik till ny modell – låg risk</a:t>
                      </a:r>
                      <a:endParaRPr/>
                    </a:p>
                  </a:txBody>
                  <a:tcPr marL="84875" marR="121250" marT="24250" marB="1818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55" name="Google Shape;1355;p109" descr="En bild som visar text, diagram, skärmbild, linje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55" y="587116"/>
            <a:ext cx="4576110" cy="627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10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110"/>
          <p:cNvSpPr txBox="1">
            <a:spLocks noGrp="1"/>
          </p:cNvSpPr>
          <p:nvPr>
            <p:ph type="title"/>
          </p:nvPr>
        </p:nvSpPr>
        <p:spPr>
          <a:xfrm>
            <a:off x="755800" y="365150"/>
            <a:ext cx="4239000" cy="27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sv-SE" sz="3600"/>
              <a:t>Steg 12: Automatisering med Slack-rapporter &amp; LLM-analys</a:t>
            </a:r>
            <a:endParaRPr sz="3600"/>
          </a:p>
        </p:txBody>
      </p:sp>
      <p:sp>
        <p:nvSpPr>
          <p:cNvPr id="1363" name="Google Shape;1363;p110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110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110"/>
          <p:cNvSpPr txBox="1">
            <a:spLocks noGrp="1"/>
          </p:cNvSpPr>
          <p:nvPr>
            <p:ph type="body" idx="1"/>
          </p:nvPr>
        </p:nvSpPr>
        <p:spPr>
          <a:xfrm>
            <a:off x="4963250" y="412975"/>
            <a:ext cx="7235700" cy="26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>
                <a:highlight>
                  <a:srgbClr val="FFFFFF"/>
                </a:highlight>
              </a:rPr>
              <a:t>I Steg 12 bygger du en </a:t>
            </a:r>
            <a:r>
              <a:rPr lang="sv-SE" sz="1600" b="1">
                <a:highlight>
                  <a:srgbClr val="FFFFFF"/>
                </a:highlight>
              </a:rPr>
              <a:t>fullständig automatiseringspipeline</a:t>
            </a:r>
            <a:r>
              <a:rPr lang="sv-SE" sz="1600">
                <a:highlight>
                  <a:srgbClr val="FFFFFF"/>
                </a:highlight>
              </a:rPr>
              <a:t> som: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Tränar</a:t>
            </a:r>
            <a:r>
              <a:rPr lang="sv-SE" sz="1600">
                <a:highlight>
                  <a:srgbClr val="FFFFFF"/>
                </a:highlight>
              </a:rPr>
              <a:t> Random Forest-modellen automatiskt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Mäter</a:t>
            </a:r>
            <a:r>
              <a:rPr lang="sv-SE" sz="1600">
                <a:highlight>
                  <a:srgbClr val="FFFFFF"/>
                </a:highlight>
              </a:rPr>
              <a:t> prestanda (precision, recall, F1-score)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Jämför</a:t>
            </a:r>
            <a:r>
              <a:rPr lang="sv-SE" sz="1600">
                <a:highlight>
                  <a:srgbClr val="FFFFFF"/>
                </a:highlight>
              </a:rPr>
              <a:t> med historiska modeller (via MLflow)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Skickar</a:t>
            </a:r>
            <a:r>
              <a:rPr lang="sv-SE" sz="1600">
                <a:highlight>
                  <a:srgbClr val="FFFFFF"/>
                </a:highlight>
              </a:rPr>
              <a:t> en Slack-rapport med AI-genererad analys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Sparar</a:t>
            </a:r>
            <a:r>
              <a:rPr lang="sv-SE" sz="1600">
                <a:highlight>
                  <a:srgbClr val="FFFFFF"/>
                </a:highlight>
              </a:rPr>
              <a:t> allt i MLflow och CSV för framtida spårning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 b="1">
                <a:highlight>
                  <a:srgbClr val="FFFFFF"/>
                </a:highlight>
              </a:rPr>
              <a:t>Enkelt förklarat:</a:t>
            </a:r>
            <a:r>
              <a:rPr lang="sv-SE" sz="1600">
                <a:highlight>
                  <a:srgbClr val="FFFFFF"/>
                </a:highlight>
              </a:rPr>
              <a:t> Du skapar ett system som självständigt tränar modellen, kontrollerar om den blir bättre eller sämre, och skickar en rapport till Slack – precis som på riktiga företag.</a:t>
            </a:r>
            <a:endParaRPr sz="1600"/>
          </a:p>
        </p:txBody>
      </p:sp>
      <p:pic>
        <p:nvPicPr>
          <p:cNvPr id="1366" name="Google Shape;1366;p110" descr="En bild som visar text, Teckensnitt, diagram, design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" y="3736319"/>
            <a:ext cx="12190059" cy="1617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111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111"/>
          <p:cNvSpPr txBox="1"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sv-SE" sz="3200"/>
              <a:t>Verkliga exempel från arbetsmarknaden</a:t>
            </a:r>
            <a:endParaRPr/>
          </a:p>
        </p:txBody>
      </p:sp>
      <p:sp>
        <p:nvSpPr>
          <p:cNvPr id="1374" name="Google Shape;1374;p111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111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111"/>
          <p:cNvSpPr txBox="1">
            <a:spLocks noGrp="1"/>
          </p:cNvSpPr>
          <p:nvPr>
            <p:ph type="body" idx="1"/>
          </p:nvPr>
        </p:nvSpPr>
        <p:spPr>
          <a:xfrm>
            <a:off x="5351164" y="586822"/>
            <a:ext cx="6002636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400"/>
              <a:buChar char="•"/>
            </a:pPr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</a:rPr>
              <a:t>Gemensamt för alla: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</a:rPr>
              <a:t> De kör sina modeller </a:t>
            </a:r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</a:rPr>
              <a:t>automatiskt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</a:rPr>
              <a:t> och skickar </a:t>
            </a:r>
            <a:r>
              <a:rPr lang="sv-SE" sz="2400" b="1">
                <a:solidFill>
                  <a:srgbClr val="0F1115"/>
                </a:solidFill>
                <a:highlight>
                  <a:srgbClr val="FFFFFF"/>
                </a:highlight>
              </a:rPr>
              <a:t>rapporter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</a:rPr>
              <a:t> till teamet – precis som du gör här!</a:t>
            </a:r>
            <a:endParaRPr sz="2400"/>
          </a:p>
        </p:txBody>
      </p:sp>
      <p:graphicFrame>
        <p:nvGraphicFramePr>
          <p:cNvPr id="1377" name="Google Shape;1377;p111"/>
          <p:cNvGraphicFramePr/>
          <p:nvPr/>
        </p:nvGraphicFramePr>
        <p:xfrm>
          <a:off x="626291" y="277982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89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FÖRETAG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VAD DE AUTOMATISERAR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29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Arial"/>
                        <a:buNone/>
                      </a:pPr>
                      <a:r>
                        <a:rPr lang="sv-SE" sz="17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Spotify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Rekommendationsmodeller varje natt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"Vilka låtar ska vi rekommendera imorgon?"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Uber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ETA-modeller varje timme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"Hur lång tid tar resan just nu?"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Netflix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Tittarpreferensmodeller dagligen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"Vilka filmer ska vi visa på startsidan?"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Banker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Bedrägerimodeller i realtid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"Är denna transaktion misstänkt?"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Ericsson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Nätverksavvikelser varje minut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"Finns det ett pågående intrång?"</a:t>
                      </a:r>
                      <a:endParaRPr/>
                    </a:p>
                  </a:txBody>
                  <a:tcPr marL="147975" marR="147975" marT="147975" marB="1479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112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112"/>
          <p:cNvSpPr txBox="1">
            <a:spLocks noGrp="1"/>
          </p:cNvSpPr>
          <p:nvPr>
            <p:ph type="title"/>
          </p:nvPr>
        </p:nvSpPr>
        <p:spPr>
          <a:xfrm>
            <a:off x="828140" y="574330"/>
            <a:ext cx="4128627" cy="167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sv-SE" sz="4000"/>
              <a:t>Slack vs Teams – för professionell användning</a:t>
            </a:r>
            <a:endParaRPr sz="4000"/>
          </a:p>
        </p:txBody>
      </p:sp>
      <p:sp>
        <p:nvSpPr>
          <p:cNvPr id="1385" name="Google Shape;1385;p112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112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112"/>
          <p:cNvSpPr txBox="1">
            <a:spLocks noGrp="1"/>
          </p:cNvSpPr>
          <p:nvPr>
            <p:ph type="body" idx="1"/>
          </p:nvPr>
        </p:nvSpPr>
        <p:spPr>
          <a:xfrm>
            <a:off x="5351164" y="586822"/>
            <a:ext cx="6002636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800"/>
              <a:buNone/>
            </a:pPr>
            <a:r>
              <a:rPr lang="sv-SE" b="1">
                <a:solidFill>
                  <a:srgbClr val="0F1115"/>
                </a:solidFill>
                <a:highlight>
                  <a:srgbClr val="FFFFFF"/>
                </a:highlight>
              </a:rPr>
              <a:t>Slutsats: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</a:rPr>
              <a:t> För skolprojekt och mindre team är </a:t>
            </a:r>
            <a:r>
              <a:rPr lang="sv-SE" b="1">
                <a:solidFill>
                  <a:srgbClr val="0F1115"/>
                </a:solidFill>
                <a:highlight>
                  <a:srgbClr val="FFFFFF"/>
                </a:highlight>
              </a:rPr>
              <a:t>Slack mycket enklare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</a:rPr>
              <a:t>!</a:t>
            </a:r>
            <a:endParaRPr/>
          </a:p>
        </p:txBody>
      </p:sp>
      <p:graphicFrame>
        <p:nvGraphicFramePr>
          <p:cNvPr id="1388" name="Google Shape;1388;p112"/>
          <p:cNvGraphicFramePr/>
          <p:nvPr/>
        </p:nvGraphicFramePr>
        <p:xfrm>
          <a:off x="-7" y="231565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9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Funktion</a:t>
                      </a:r>
                      <a:endParaRPr/>
                    </a:p>
                  </a:txBody>
                  <a:tcPr marL="187750" marR="112650" marT="112650" marB="112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Slack</a:t>
                      </a:r>
                      <a:endParaRPr sz="3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112650" marT="112650" marB="112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Microsoft Teams</a:t>
                      </a:r>
                      <a:endParaRPr sz="32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112650" marT="112650" marB="112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Webhook-inställning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2 minuter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10+ minuter (kräver ofta admin)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Gratis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 (gratis workspace)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 (men ofta begränsad i skolor)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Dokumentation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Utmärkt, många exempel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Krånglig, ofta föråldrad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API-anrop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Enkel requests.post()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Kräver ofta Power Automate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Används i startup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90% av tech-startups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❌ Sällan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Används i storföretag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⚠️ Vissa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Vanligast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Push-notiser till mobil</a:t>
                      </a:r>
                      <a:endParaRPr sz="2000" b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Ja</a:t>
                      </a:r>
                      <a:endParaRPr/>
                    </a:p>
                  </a:txBody>
                  <a:tcPr marL="187750" marR="97625" marT="97625" marB="976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113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113"/>
          <p:cNvSpPr txBox="1">
            <a:spLocks noGrp="1"/>
          </p:cNvSpPr>
          <p:nvPr>
            <p:ph type="title"/>
          </p:nvPr>
        </p:nvSpPr>
        <p:spPr>
          <a:xfrm>
            <a:off x="921825" y="368225"/>
            <a:ext cx="9441000" cy="9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sv-SE" sz="3200"/>
              <a:t>Så här skapar du en Slack Webhook (steg-för-steg)</a:t>
            </a:r>
            <a:endParaRPr sz="3200"/>
          </a:p>
        </p:txBody>
      </p:sp>
      <p:sp>
        <p:nvSpPr>
          <p:cNvPr id="1396" name="Google Shape;1396;p113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113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8" name="Google Shape;1398;p113"/>
          <p:cNvGraphicFramePr/>
          <p:nvPr/>
        </p:nvGraphicFramePr>
        <p:xfrm>
          <a:off x="132288" y="149764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{285BB7DE-8AC6-4827-B6FF-C3AD4FF48981}</a:tableStyleId>
              </a:tblPr>
              <a:tblGrid>
                <a:gridCol w="82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Steg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Åtgärd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/>
                        <a:t>Detaljer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1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Gå till </a:t>
                      </a:r>
                      <a:r>
                        <a:rPr lang="sv-SE" sz="2000" b="0" u="sng" strike="noStrike" cap="none">
                          <a:solidFill>
                            <a:srgbClr val="3964FE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api.slack.com/apps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Skapa ett Slack-konto om du inte har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2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Klicka </a:t>
                      </a:r>
                      <a:r>
                        <a:rPr lang="sv-SE" sz="2000" b="1" u="none" strike="noStrike" cap="none"/>
                        <a:t>"Create New App"</a:t>
                      </a:r>
                      <a:r>
                        <a:rPr lang="sv-SE" sz="2000" b="0" u="none" strike="noStrike" cap="none"/>
                        <a:t> → </a:t>
                      </a:r>
                      <a:r>
                        <a:rPr lang="sv-SE" sz="2000" b="1" u="none" strike="noStrike" cap="none"/>
                        <a:t>"From scratch"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"From scratch" (inte från mall)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3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App Name:</a:t>
                      </a:r>
                      <a:r>
                        <a:rPr lang="sv-SE" sz="2000" b="0" u="none" strike="noStrike" cap="none"/>
                        <a:t> Insider Threat Alerts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ett beskrivande namn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4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Välj workspace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den workspace där din kanal finns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5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Klicka </a:t>
                      </a:r>
                      <a:r>
                        <a:rPr lang="sv-SE" sz="2000" b="1" u="none" strike="noStrike" cap="none"/>
                        <a:t>"Create App"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Appen skapas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6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I vänstermenyn, klicka </a:t>
                      </a:r>
                      <a:r>
                        <a:rPr lang="sv-SE" sz="2000" b="1" u="none" strike="noStrike" cap="none"/>
                        <a:t>"Incoming Webhooks"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Detta är vad du behöver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7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Aktivera </a:t>
                      </a:r>
                      <a:r>
                        <a:rPr lang="sv-SE" sz="2000" b="1" u="none" strike="noStrike" cap="none"/>
                        <a:t>"Activate Incoming Webhooks"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Slå på knappen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8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Klicka </a:t>
                      </a:r>
                      <a:r>
                        <a:rPr lang="sv-SE" sz="2000" b="1" u="none" strike="noStrike" cap="none"/>
                        <a:t>"Add New Webhook to Workspace"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vilken kanal som ska få meddelanden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9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kanal (t.ex. #all-insider-threat-detection)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Välj den kanal du skapat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10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Klicka </a:t>
                      </a:r>
                      <a:r>
                        <a:rPr lang="sv-SE" sz="2000" b="1" u="none" strike="noStrike" cap="none"/>
                        <a:t>"Allow"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Bekräfta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4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11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6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/>
                        <a:t>Kopiera Webhook URL:en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94475" marT="59050" marB="5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/>
                        <a:t>Den ser ut som https://hooks.slack.com/services/T.../B.../...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4475" marR="56675" marT="59050" marB="5905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114"/>
          <p:cNvSpPr txBox="1">
            <a:spLocks noGrp="1"/>
          </p:cNvSpPr>
          <p:nvPr>
            <p:ph type="title"/>
          </p:nvPr>
        </p:nvSpPr>
        <p:spPr>
          <a:xfrm>
            <a:off x="841248" y="334644"/>
            <a:ext cx="10509504" cy="63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sv-SE" sz="5400"/>
              <a:t>Steg 12: Komplett tabell</a:t>
            </a:r>
            <a:endParaRPr sz="5400"/>
          </a:p>
        </p:txBody>
      </p:sp>
      <p:sp>
        <p:nvSpPr>
          <p:cNvPr id="1405" name="Google Shape;1405;p114"/>
          <p:cNvSpPr/>
          <p:nvPr/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114"/>
          <p:cNvSpPr/>
          <p:nvPr/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7" name="Google Shape;1407;p114"/>
          <p:cNvGraphicFramePr/>
          <p:nvPr/>
        </p:nvGraphicFramePr>
        <p:xfrm>
          <a:off x="101992" y="111137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3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8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75850" marR="126400" marT="79000" marB="79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26400" marR="126400" marT="79000" marB="79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Kod/Plats</a:t>
                      </a:r>
                      <a:endParaRPr/>
                    </a:p>
                  </a:txBody>
                  <a:tcPr marL="126400" marR="126400" marT="79000" marB="79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126400" marR="126400" marT="79000" marB="79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12.1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Fråga efter API-nycklar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Terminalen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Slack URL, Groq API, Snowflake lösenord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12.2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Hämta data från Snowflake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pd.read_sql()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4 000 rader från FCT_FEATURES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12.3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Träna Random Forest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RandomForestClassifier()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 träd, djup 10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12.4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Beräkna prestanda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precision_score(), recall_score()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99.1% precision, 96.7% recall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12.5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Hämta historik från MLflow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mlflow.search_runs()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Senaste F1-score: 0.979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12.6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Beräkna förändring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((f1 - latest_f1) / latest_f1) * 100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+0.00% stabil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12.7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Generera AI-analys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Groq Llama 3.3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 meningars analys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12.8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Skicka Slack-rapport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requests.post(slack_webhook_url)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Meddelande med emojis och struktur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12.9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Logga till MLflow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mlflow.log_metric(), mlflow.log_model()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Sparar modell och metrics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12.10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585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Spara CSV-historik</a:t>
                      </a:r>
                      <a:endParaRPr/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pd.to_csv()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400" marR="1264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2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Alla körningar sparas</a:t>
                      </a:r>
                      <a:endParaRPr/>
                    </a:p>
                  </a:txBody>
                  <a:tcPr marL="126400" marR="758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115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5C5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115"/>
          <p:cNvSpPr txBox="1"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sv-SE" sz="3200"/>
              <a:t>Hur detta används i verklig produktion</a:t>
            </a:r>
            <a:endParaRPr sz="3200"/>
          </a:p>
        </p:txBody>
      </p:sp>
      <p:sp>
        <p:nvSpPr>
          <p:cNvPr id="1415" name="Google Shape;1415;p115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115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7" name="Google Shape;1417;p115"/>
          <p:cNvGraphicFramePr/>
          <p:nvPr/>
        </p:nvGraphicFramePr>
        <p:xfrm>
          <a:off x="613348" y="269380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{0F4F30DF-796E-4B71-B604-BF9DE2107E0F}</a:tableStyleId>
              </a:tblPr>
              <a:tblGrid>
                <a:gridCol w="244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Företag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Vad de automatiserar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sv-SE" sz="28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Vilket verktyg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Spotify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Rekommendationsmodeller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Jobs + Slack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Uber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ETA-prediktioner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 + Slack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Airbnb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Pris-prediktioner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+ Slack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Banker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Bedrägeridetektering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MLflow + Teams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18" name="Google Shape;1418;p115" descr="En bild som visar text, skärmbild, diagram, Teckensnit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347" y="5395488"/>
            <a:ext cx="12182904" cy="1465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116"/>
          <p:cNvSpPr txBox="1"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sv-SE" sz="4000"/>
              <a:t>Checklista – Steg 12 är klart när:</a:t>
            </a:r>
            <a:endParaRPr sz="4000"/>
          </a:p>
        </p:txBody>
      </p:sp>
      <p:sp>
        <p:nvSpPr>
          <p:cNvPr id="1425" name="Google Shape;1425;p116"/>
          <p:cNvSpPr/>
          <p:nvPr/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116"/>
          <p:cNvSpPr/>
          <p:nvPr/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7" name="Google Shape;1427;p116"/>
          <p:cNvGraphicFramePr/>
          <p:nvPr/>
        </p:nvGraphicFramePr>
        <p:xfrm>
          <a:off x="960328" y="173736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{DB10B339-6396-4F68-8CE8-AFA409E144A8}</a:tableStyleId>
              </a:tblPr>
              <a:tblGrid>
                <a:gridCol w="727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Kontroll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✅ Klart?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210825" marT="131750" marB="1317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skapat en Slack-app och webhook URL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kört koden och fått ✅ Slack-rapport skickad!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sett meddelandet i Slack-kanalen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sett AI-analysen från Groq i Slack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sett att historiken uppdaterades (4 körningar)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Du har förstått hur detta används i verkligheten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500" marR="210825" marT="131750" marB="1317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sv-SE" sz="2500" b="0" u="none" strike="noStrike" cap="none"/>
                        <a:t>☐</a:t>
                      </a:r>
                      <a:endParaRPr sz="2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0825" marR="126500" marT="131750" marB="1317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117"/>
          <p:cNvSpPr/>
          <p:nvPr/>
        </p:nvSpPr>
        <p:spPr>
          <a:xfrm>
            <a:off x="0" y="0"/>
            <a:ext cx="12192000" cy="2877832"/>
          </a:xfrm>
          <a:custGeom>
            <a:avLst/>
            <a:gdLst/>
            <a:ahLst/>
            <a:cxnLst/>
            <a:rect l="l" t="t" r="r" b="b"/>
            <a:pathLst>
              <a:path w="12192000" h="2877832" extrusionOk="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117"/>
          <p:cNvSpPr txBox="1">
            <a:spLocks noGrp="1"/>
          </p:cNvSpPr>
          <p:nvPr>
            <p:ph type="title"/>
          </p:nvPr>
        </p:nvSpPr>
        <p:spPr>
          <a:xfrm>
            <a:off x="50068" y="256183"/>
            <a:ext cx="4180556" cy="185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sv-SE" sz="4000">
                <a:solidFill>
                  <a:srgbClr val="FFFFFF"/>
                </a:solidFill>
              </a:rPr>
              <a:t>Steg 13: Bygg enkel dashboard i Databricks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1435" name="Google Shape;1435;p117"/>
          <p:cNvSpPr/>
          <p:nvPr/>
        </p:nvSpPr>
        <p:spPr>
          <a:xfrm rot="5400000">
            <a:off x="3566159" y="1353312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117"/>
          <p:cNvSpPr txBox="1">
            <a:spLocks noGrp="1"/>
          </p:cNvSpPr>
          <p:nvPr>
            <p:ph type="body" idx="1"/>
          </p:nvPr>
        </p:nvSpPr>
        <p:spPr>
          <a:xfrm>
            <a:off x="4474462" y="612199"/>
            <a:ext cx="7661523" cy="150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>
                <a:highlight>
                  <a:srgbClr val="FFFFFF"/>
                </a:highlight>
              </a:rPr>
              <a:t>I Steg 13 bygger du en </a:t>
            </a:r>
            <a:r>
              <a:rPr lang="sv-SE" sz="2000" b="1">
                <a:highlight>
                  <a:srgbClr val="FFFFFF"/>
                </a:highlight>
              </a:rPr>
              <a:t>dashboard</a:t>
            </a:r>
            <a:r>
              <a:rPr lang="sv-SE" sz="2000">
                <a:highlight>
                  <a:srgbClr val="FFFFFF"/>
                </a:highlight>
              </a:rPr>
              <a:t> i Databricks SQL som visualiserar din modells prestanda över tid. Detta gör att du och ditt team snabbt kan se om modellen fungerar som den ska.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sv-SE" sz="2000" b="1">
                <a:highlight>
                  <a:srgbClr val="FFFFFF"/>
                </a:highlight>
              </a:rPr>
              <a:t>Enkelt förklarat:</a:t>
            </a:r>
            <a:r>
              <a:rPr lang="sv-SE" sz="2000">
                <a:highlight>
                  <a:srgbClr val="FFFFFF"/>
                </a:highlight>
              </a:rPr>
              <a:t> Du skapar ett "kontrollrum" där du kan se grafer över modellens precision, recall och F1-score – precis som en bilinstrumentbräda visar hastighet och bränslenivå.</a:t>
            </a:r>
            <a:endParaRPr sz="2000"/>
          </a:p>
          <a:p>
            <a:pPr marL="228600" lvl="0" indent="-133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>
              <a:solidFill>
                <a:srgbClr val="FFFFFF"/>
              </a:solidFill>
            </a:endParaRPr>
          </a:p>
        </p:txBody>
      </p:sp>
      <p:pic>
        <p:nvPicPr>
          <p:cNvPr id="1437" name="Google Shape;1437;p117" descr="En bild som visar text, skärmbild, diagram, Teckensnitt&#10;&#10;AI-genererat innehåll kan vara felaktig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322" y="2971800"/>
            <a:ext cx="10491163" cy="3278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118"/>
          <p:cNvSpPr/>
          <p:nvPr/>
        </p:nvSpPr>
        <p:spPr>
          <a:xfrm>
            <a:off x="0" y="0"/>
            <a:ext cx="12192000" cy="2877832"/>
          </a:xfrm>
          <a:custGeom>
            <a:avLst/>
            <a:gdLst/>
            <a:ahLst/>
            <a:cxnLst/>
            <a:rect l="l" t="t" r="r" b="b"/>
            <a:pathLst>
              <a:path w="12192000" h="2877832" extrusionOk="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118"/>
          <p:cNvSpPr txBox="1">
            <a:spLocks noGrp="1"/>
          </p:cNvSpPr>
          <p:nvPr>
            <p:ph type="title"/>
          </p:nvPr>
        </p:nvSpPr>
        <p:spPr>
          <a:xfrm>
            <a:off x="70336" y="173111"/>
            <a:ext cx="35997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sv-SE" sz="4100">
                <a:solidFill>
                  <a:srgbClr val="FFFFFF"/>
                </a:solidFill>
              </a:rPr>
              <a:t>Steg 13: Komplett tabell</a:t>
            </a:r>
            <a:endParaRPr sz="4100">
              <a:solidFill>
                <a:srgbClr val="FFFFFF"/>
              </a:solidFill>
            </a:endParaRPr>
          </a:p>
        </p:txBody>
      </p:sp>
      <p:sp>
        <p:nvSpPr>
          <p:cNvPr id="1445" name="Google Shape;1445;p118"/>
          <p:cNvSpPr/>
          <p:nvPr/>
        </p:nvSpPr>
        <p:spPr>
          <a:xfrm rot="5400000">
            <a:off x="3566159" y="1353312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46" name="Google Shape;1446;p118"/>
          <p:cNvGraphicFramePr/>
          <p:nvPr/>
        </p:nvGraphicFramePr>
        <p:xfrm>
          <a:off x="12100" y="2139702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chemeClr val="lt1"/>
                </a:solidFill>
                <a:tableStyleId>{0F4F30DF-796E-4B71-B604-BF9DE2107E0F}</a:tableStyleId>
              </a:tblPr>
              <a:tblGrid>
                <a:gridCol w="111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 sz="1300"/>
                    </a:p>
                  </a:txBody>
                  <a:tcPr marL="87600" marR="112300" marT="67375" marB="67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Detaljerad instruktion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behövs detta?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13.1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permanent SQL-tabell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notebook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Kör Python-koden ovan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Gör historiken tillgänglig för SQL Warehouse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13.2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dataset i SQL Editor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SQL → "New Query"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Klistra in SQL-frågan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dataunderlag för dashboard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13.3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dashboard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Databricks SQL → "Dashboards"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"Create Dashboard"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Samla alla visualiseringar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13.4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linjediagram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→ "Add Visualization"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prestanda över tid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trender och utveckling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13.5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kortvy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→ "Add Visualization"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senaste värden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Snabb överblick av nyckeltal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13.6</a:t>
                      </a:r>
                      <a:endParaRPr sz="19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Skapa tabell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→ "Add Visualization"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Visa alla körningar</a:t>
                      </a:r>
                      <a:endParaRPr sz="1300"/>
                    </a:p>
                  </a:txBody>
                  <a:tcPr marL="87600" marR="112300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sv-SE" sz="19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Detaljerad historik</a:t>
                      </a:r>
                      <a:endParaRPr sz="1300"/>
                    </a:p>
                  </a:txBody>
                  <a:tcPr marL="87600" marR="67375" marT="67375" marB="673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19"/>
          <p:cNvSpPr/>
          <p:nvPr/>
        </p:nvSpPr>
        <p:spPr>
          <a:xfrm>
            <a:off x="0" y="0"/>
            <a:ext cx="12192000" cy="2877832"/>
          </a:xfrm>
          <a:custGeom>
            <a:avLst/>
            <a:gdLst/>
            <a:ahLst/>
            <a:cxnLst/>
            <a:rect l="l" t="t" r="r" b="b"/>
            <a:pathLst>
              <a:path w="12192000" h="2877832" extrusionOk="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119"/>
          <p:cNvSpPr txBox="1"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lang="sv-SE" sz="2600">
                <a:solidFill>
                  <a:srgbClr val="FFFFFF"/>
                </a:solidFill>
              </a:rPr>
              <a:t>Resultat från din körning. </a:t>
            </a:r>
            <a:br>
              <a:rPr lang="sv-SE" sz="2600">
                <a:solidFill>
                  <a:srgbClr val="FFFFFF"/>
                </a:solidFill>
              </a:rPr>
            </a:br>
            <a:r>
              <a:rPr lang="sv-SE" sz="2600">
                <a:solidFill>
                  <a:srgbClr val="FFFFFF"/>
                </a:solidFill>
              </a:rPr>
              <a:t>Resultat från din körning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1454" name="Google Shape;1454;p119"/>
          <p:cNvSpPr/>
          <p:nvPr/>
        </p:nvSpPr>
        <p:spPr>
          <a:xfrm rot="5400000">
            <a:off x="3566159" y="1353312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55" name="Google Shape;1455;p119"/>
          <p:cNvGraphicFramePr/>
          <p:nvPr/>
        </p:nvGraphicFramePr>
        <p:xfrm>
          <a:off x="478224" y="332097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36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sv-SE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MÄTVÄRDE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sv-SE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DITT RESULTAT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sv-SE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BETYDELSE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Antal körningar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historiska körningar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 har spårat modellen över tid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99.1%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När modellen flaggar – har den rätt 99 gånger av 100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96.7%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Modellen hittar 97 av 100 attacker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0.979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Utmärkt balans mellan precision och recall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 STABIL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sv-SE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Ingen försämring sedan förra körningen</a:t>
                      </a:r>
                      <a:endParaRPr/>
                    </a:p>
                  </a:txBody>
                  <a:tcPr marL="127050" marR="127050" marT="127050" marB="127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120"/>
          <p:cNvSpPr/>
          <p:nvPr/>
        </p:nvSpPr>
        <p:spPr>
          <a:xfrm>
            <a:off x="0" y="0"/>
            <a:ext cx="12192000" cy="2877832"/>
          </a:xfrm>
          <a:custGeom>
            <a:avLst/>
            <a:gdLst/>
            <a:ahLst/>
            <a:cxnLst/>
            <a:rect l="l" t="t" r="r" b="b"/>
            <a:pathLst>
              <a:path w="12192000" h="2877832" extrusionOk="0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120"/>
          <p:cNvSpPr txBox="1"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lang="sv-SE" sz="3000">
                <a:solidFill>
                  <a:srgbClr val="FFFFFF"/>
                </a:solidFill>
              </a:rPr>
              <a:t>Din dashboard kommer att innehålla: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63" name="Google Shape;1463;p120"/>
          <p:cNvSpPr/>
          <p:nvPr/>
        </p:nvSpPr>
        <p:spPr>
          <a:xfrm rot="5400000">
            <a:off x="3566159" y="1353312"/>
            <a:ext cx="1554480" cy="18288"/>
          </a:xfrm>
          <a:custGeom>
            <a:avLst/>
            <a:gdLst/>
            <a:ahLst/>
            <a:cxnLst/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64" name="Google Shape;1464;p120"/>
          <p:cNvGraphicFramePr/>
          <p:nvPr/>
        </p:nvGraphicFramePr>
        <p:xfrm>
          <a:off x="281065" y="3035508"/>
          <a:ext cx="3000000" cy="3000000"/>
        </p:xfrm>
        <a:graphic>
          <a:graphicData uri="http://schemas.openxmlformats.org/drawingml/2006/table">
            <a:tbl>
              <a:tblPr firstRow="1" bandRow="1">
                <a:solidFill>
                  <a:srgbClr val="F2F2F2"/>
                </a:solidFill>
                <a:tableStyleId>{0F4F30DF-796E-4B71-B604-BF9DE2107E0F}</a:tableStyleId>
              </a:tblPr>
              <a:tblGrid>
                <a:gridCol w="298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Visualisering</a:t>
                      </a:r>
                      <a:endParaRPr/>
                    </a:p>
                  </a:txBody>
                  <a:tcPr marL="147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</a:t>
                      </a:r>
                      <a:endParaRPr/>
                    </a:p>
                  </a:txBody>
                  <a:tcPr marL="245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8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sv-SE" sz="32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Syfte</a:t>
                      </a:r>
                      <a:endParaRPr/>
                    </a:p>
                  </a:txBody>
                  <a:tcPr marL="245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Prestanda över tid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Linjediagram</a:t>
                      </a:r>
                      <a:endParaRPr/>
                    </a:p>
                  </a:txBody>
                  <a:tcPr marL="245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trender – blir modellen bättre eller sämre?</a:t>
                      </a:r>
                      <a:endParaRPr/>
                    </a:p>
                  </a:txBody>
                  <a:tcPr marL="245000" marR="147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Senaste F1-score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Kortvy (Counter)</a:t>
                      </a:r>
                      <a:endParaRPr/>
                    </a:p>
                  </a:txBody>
                  <a:tcPr marL="245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Snabb överblick av nuvarande prestanda</a:t>
                      </a:r>
                      <a:endParaRPr/>
                    </a:p>
                  </a:txBody>
                  <a:tcPr marL="245000" marR="147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Historik-tabell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7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Tabell</a:t>
                      </a:r>
                      <a:endParaRPr/>
                    </a:p>
                  </a:txBody>
                  <a:tcPr marL="245000" marR="245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2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Alla körningar med detaljer</a:t>
                      </a:r>
                      <a:endParaRPr/>
                    </a:p>
                  </a:txBody>
                  <a:tcPr marL="245000" marR="147000" marT="147000" marB="1531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121"/>
          <p:cNvSpPr txBox="1"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Pro tips</a:t>
            </a:r>
            <a:endParaRPr/>
          </a:p>
        </p:txBody>
      </p:sp>
      <p:sp>
        <p:nvSpPr>
          <p:cNvPr id="1471" name="Google Shape;1471;p121"/>
          <p:cNvSpPr/>
          <p:nvPr/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1"/>
          <p:cNvSpPr/>
          <p:nvPr/>
        </p:nvSpPr>
        <p:spPr>
          <a:xfrm rot="10800000" flipH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3" name="Google Shape;1473;p121"/>
          <p:cNvGraphicFramePr/>
          <p:nvPr/>
        </p:nvGraphicFramePr>
        <p:xfrm>
          <a:off x="838200" y="200221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04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Arial"/>
                        <a:buNone/>
                      </a:pPr>
                      <a:r>
                        <a:rPr lang="sv-SE" sz="4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14887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90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Arial"/>
                        <a:buNone/>
                      </a:pPr>
                      <a:r>
                        <a:rPr lang="sv-SE" sz="4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/>
                    </a:p>
                  </a:txBody>
                  <a:tcPr marL="24812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5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Använd AI-assistenten</a:t>
                      </a:r>
                      <a:endParaRPr sz="2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887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Det enklaste sättet – skriv bara vad du vill ha</a:t>
                      </a:r>
                      <a:endParaRPr/>
                    </a:p>
                  </a:txBody>
                  <a:tcPr marL="248125" marR="14887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Spara dashboarden</a:t>
                      </a:r>
                      <a:endParaRPr sz="2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887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Den sparas automatiskt i molnet</a:t>
                      </a:r>
                      <a:endParaRPr/>
                    </a:p>
                  </a:txBody>
                  <a:tcPr marL="248125" marR="14887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Dela med teamet</a:t>
                      </a:r>
                      <a:endParaRPr sz="2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887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"Share" för att ge andra åtkomst</a:t>
                      </a:r>
                      <a:endParaRPr/>
                    </a:p>
                  </a:txBody>
                  <a:tcPr marL="248125" marR="14887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Uppdatera data</a:t>
                      </a:r>
                      <a:endParaRPr sz="29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48875" marR="24812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646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lang="sv-SE" sz="29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Kör Steg 13.1 igen efter nya körningar</a:t>
                      </a:r>
                      <a:endParaRPr/>
                    </a:p>
                  </a:txBody>
                  <a:tcPr marL="248125" marR="148875" marT="155075" marB="155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122"/>
          <p:cNvSpPr txBox="1"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/>
              <a:t>Checklista – Steg 13 är klart när:</a:t>
            </a:r>
            <a:endParaRPr/>
          </a:p>
        </p:txBody>
      </p:sp>
      <p:sp>
        <p:nvSpPr>
          <p:cNvPr id="1480" name="Google Shape;1480;p122"/>
          <p:cNvSpPr/>
          <p:nvPr/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122"/>
          <p:cNvSpPr/>
          <p:nvPr/>
        </p:nvSpPr>
        <p:spPr>
          <a:xfrm rot="10800000" flipH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2" name="Google Shape;1482;p122"/>
          <p:cNvGraphicFramePr/>
          <p:nvPr/>
        </p:nvGraphicFramePr>
        <p:xfrm>
          <a:off x="1504117" y="192626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50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✅ Klart?</a:t>
                      </a:r>
                      <a:endParaRPr/>
                    </a:p>
                  </a:txBody>
                  <a:tcPr marL="188675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kört Python-koden och skapat permanent tabell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skapat dataset i SQL Editor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skapat en dashboard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har linjediagram över tid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har kortvy med senaste F1-score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har tabell med alla körningar</a:t>
                      </a:r>
                      <a:endParaRPr/>
                    </a:p>
                  </a:txBody>
                  <a:tcPr marL="113200" marR="188675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52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sv-SE" sz="2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88675" marR="113200" marT="117925" marB="1179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2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59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Steg 14: Ladda upp projekt till GitHub</a:t>
            </a:r>
            <a:endParaRPr/>
          </a:p>
        </p:txBody>
      </p:sp>
      <p:sp>
        <p:nvSpPr>
          <p:cNvPr id="1488" name="Google Shape;1488;p123"/>
          <p:cNvSpPr txBox="1">
            <a:spLocks noGrp="1"/>
          </p:cNvSpPr>
          <p:nvPr>
            <p:ph type="body" idx="1"/>
          </p:nvPr>
        </p:nvSpPr>
        <p:spPr>
          <a:xfrm>
            <a:off x="755904" y="594995"/>
            <a:ext cx="10515600" cy="195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800"/>
              <a:buChar char="•"/>
            </a:pPr>
            <a:r>
              <a:rPr lang="sv-SE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I Steg 14 laddar du upp </a:t>
            </a:r>
            <a:r>
              <a:rPr lang="sv-SE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hela ditt projekt</a:t>
            </a:r>
            <a:r>
              <a:rPr lang="sv-SE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till GitHub. Detta är viktigt för din portfolio – arbetsgivare kan se och granska ditt arbete.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2800"/>
              <a:buChar char="•"/>
            </a:pPr>
            <a:r>
              <a:rPr lang="sv-SE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Enkelt förklarat:</a:t>
            </a:r>
            <a:r>
              <a:rPr lang="sv-SE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Du lägger ditt projekt i ett "digitalt skåp" (GitHub) där alla kan se det – precis som att lägga upp en portfolio på nätet.</a:t>
            </a:r>
            <a:endParaRPr/>
          </a:p>
        </p:txBody>
      </p:sp>
      <p:pic>
        <p:nvPicPr>
          <p:cNvPr id="1489" name="Google Shape;1489;p123" descr="A diagram of a push button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00107"/>
            <a:ext cx="12192000" cy="4257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Verkliga exempel från arbetsmarknaden</a:t>
            </a:r>
            <a:endParaRPr/>
          </a:p>
        </p:txBody>
      </p:sp>
      <p:graphicFrame>
        <p:nvGraphicFramePr>
          <p:cNvPr id="1495" name="Google Shape;1495;p124"/>
          <p:cNvGraphicFramePr/>
          <p:nvPr/>
        </p:nvGraphicFramePr>
        <p:xfrm>
          <a:off x="374904" y="2016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{7112AE43-046C-4584-B4E7-371E06D664D8}</a:tableStyleId>
              </a:tblPr>
              <a:tblGrid>
                <a:gridCol w="383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Företag</a:t>
                      </a:r>
                      <a:endParaRPr/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Vad de laddar upp till GitHub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Varför?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Spotify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ML-modeller, rekommendationssystem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Samarbete, versionshantering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Uber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ETA-prediktioner, kartdata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Spåra ändringar, återställa vid fel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Netflix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Rekommendationsalgoritmer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Dela kunskap inom teamet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Banker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Bedrägeridetekteringsmodeller</a:t>
                      </a:r>
                      <a:endParaRPr/>
                    </a:p>
                  </a:txBody>
                  <a:tcPr marL="152400" marR="15240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Revisionsspår, compliance</a:t>
                      </a:r>
                      <a:endParaRPr/>
                    </a:p>
                  </a:txBody>
                  <a:tcPr marL="152400" marR="91450" marT="95250" marB="952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96" name="Google Shape;1496;p124"/>
          <p:cNvSpPr txBox="1"/>
          <p:nvPr/>
        </p:nvSpPr>
        <p:spPr>
          <a:xfrm>
            <a:off x="412279" y="5854590"/>
            <a:ext cx="1063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Gemensamt för alla: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De laddar </a:t>
            </a:r>
            <a:r>
              <a:rPr lang="sv-SE" sz="1800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INTE upp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 själva datan eller API-nycklar – bara </a:t>
            </a:r>
            <a:r>
              <a:rPr lang="sv-SE" sz="1800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koden</a:t>
            </a:r>
            <a:r>
              <a:rPr lang="sv-SE" sz="1800" b="0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5"/>
          <p:cNvSpPr txBox="1">
            <a:spLocks noGrp="1"/>
          </p:cNvSpPr>
          <p:nvPr>
            <p:ph type="title"/>
          </p:nvPr>
        </p:nvSpPr>
        <p:spPr>
          <a:xfrm>
            <a:off x="719328" y="0"/>
            <a:ext cx="10515600" cy="61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Steg 14: Komplett tabell</a:t>
            </a:r>
            <a:endParaRPr/>
          </a:p>
        </p:txBody>
      </p:sp>
      <p:graphicFrame>
        <p:nvGraphicFramePr>
          <p:cNvPr id="1502" name="Google Shape;1502;p125"/>
          <p:cNvGraphicFramePr/>
          <p:nvPr/>
        </p:nvGraphicFramePr>
        <p:xfrm>
          <a:off x="0" y="75184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0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Varför?</a:t>
                      </a:r>
                      <a:endParaRPr/>
                    </a:p>
                  </a:txBody>
                  <a:tcPr marL="152400" marR="1524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 GitHub-konto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1800" b="0" u="sng" strike="noStrike">
                          <a:solidFill>
                            <a:srgbClr val="396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</a:t>
                      </a: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→ "Sign up"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Webbläsare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Behövs för att lagra kod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 nytt repository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"New repository"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 webbplats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En mapp för ditt projekt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Namnge repository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insider-threat-detection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Identifierar ditt projekt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 Public/Private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 </a:t>
                      </a: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"Public"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Arbetsgivare kan se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INTE</a:t>
                      </a: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på README/.gitignore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Lämna alla rutor </a:t>
                      </a: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TOM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Skriptet skapar dem själv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"Create repository"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Blå knapp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Repositoryt skapas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Öppna PowerShell i projektmappen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Högerklicka i mappen → "Open in Terminal"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VS Code / PowerShell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Kör kommandon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Kör setup-skriptet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.\setup_github.ps1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PowerShell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Gör allt automatiskt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Ange GitHub-användarnamn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Skriv ditt användarnamn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Terminal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Kopplar till rätt konto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 branch-namn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master eller main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Terminal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 standard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Vänta medan skriptet körs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Automatiskt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PowerShell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Skapar .gitignore, Git LFS, commit, push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på GitHub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repo-länk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Webbläsare</a:t>
                      </a:r>
                      <a:endParaRPr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Se att alla filer kommit med</a:t>
                      </a:r>
                      <a:endParaRPr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Steg 14.1: Skapa GitHub-konto </a:t>
            </a:r>
            <a:b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(om du inte har)</a:t>
            </a:r>
            <a:endParaRPr/>
          </a:p>
        </p:txBody>
      </p:sp>
      <p:graphicFrame>
        <p:nvGraphicFramePr>
          <p:cNvPr id="1508" name="Google Shape;1508;p126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44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Steg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/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 </a:t>
                      </a:r>
                      <a:r>
                        <a:rPr lang="sv-SE" sz="2800" b="0" u="sng" strike="noStrike">
                          <a:solidFill>
                            <a:srgbClr val="3964FE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 </a:t>
                      </a: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"Sign up"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Ange e-post, lösenord och användarnamn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Verifiera din e-post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 </a:t>
                      </a: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"Free"</a:t>
                      </a: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plan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27"/>
          <p:cNvSpPr txBox="1">
            <a:spLocks noGrp="1"/>
          </p:cNvSpPr>
          <p:nvPr>
            <p:ph type="title"/>
          </p:nvPr>
        </p:nvSpPr>
        <p:spPr>
          <a:xfrm>
            <a:off x="0" y="161925"/>
            <a:ext cx="6966857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sv-SE" b="1"/>
              <a:t>Steg 14.2: Skapa nytt repository på GitHub</a:t>
            </a:r>
            <a:endParaRPr b="1"/>
          </a:p>
        </p:txBody>
      </p:sp>
      <p:graphicFrame>
        <p:nvGraphicFramePr>
          <p:cNvPr id="1514" name="Google Shape;1514;p127"/>
          <p:cNvGraphicFramePr/>
          <p:nvPr/>
        </p:nvGraphicFramePr>
        <p:xfrm>
          <a:off x="0" y="123444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69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Åtgärd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Inloggad på GitHub, klicka på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"+"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uppe till höger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"New repository"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Repository name: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insider-threat-detection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Description: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ML-projekt för insiderhot-detektering med Random Forest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"Public"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(så arbetsgivare kan se)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⚠️ VIKTIGT: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Klicka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INTE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på "Add a README"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⚠️ VIKTIGT: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Klicka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INTE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på "Add .gitignore"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⚠️ VIKTIGT: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Klicka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INTE</a:t>
                      </a: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på "Choose a license"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Klicka på </a:t>
                      </a: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"Create repository"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515" name="Google Shape;1515;p127" descr="A screenshot of a computer screen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65357" y="0"/>
            <a:ext cx="312664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sv-SE" b="1"/>
              <a:t>Git LFS vs Vanlig Git – Varför behövs det?</a:t>
            </a:r>
            <a:endParaRPr b="1"/>
          </a:p>
        </p:txBody>
      </p:sp>
      <p:graphicFrame>
        <p:nvGraphicFramePr>
          <p:cNvPr id="1521" name="Google Shape;1521;p128"/>
          <p:cNvGraphicFramePr/>
          <p:nvPr/>
        </p:nvGraphicFramePr>
        <p:xfrm>
          <a:off x="319315" y="18256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421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Svar</a:t>
                      </a:r>
                      <a:endParaRPr/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Vad är problemet med vanlig Git?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Vanlig Git sparar </a:t>
                      </a: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hela filen</a:t>
                      </a: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i historiken. Varje gång du ändrar en 1 MB fil, läggs 1 MB till i repositoryt.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Vad gör Git LFS?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 LFS sparar bara en </a:t>
                      </a: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länk</a:t>
                      </a: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 (pekare) till filen. Den stora filen lagras separat.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Varför behöver vi det?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Din .pkl-modell är 786 KB. Utan Git LFS skulle repositoryt växa snabbt. Med Git LFS förblir det litet.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Behöver arbetsgivaren Git LFS?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Ja, för att ladda ner .pkl-filerna. Men de flesta har det redan installerat.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6" name="Google Shape;1526;p129"/>
          <p:cNvGraphicFramePr/>
          <p:nvPr/>
        </p:nvGraphicFramePr>
        <p:xfrm>
          <a:off x="170543" y="8191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264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Scenario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Utan Git LFS</a:t>
                      </a:r>
                      <a:endParaRPr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Med Git LFS</a:t>
                      </a:r>
                      <a:endParaRPr/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Första push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786 KB</a:t>
                      </a:r>
                      <a:endParaRPr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~200 bytes (länk)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10 versioner av modellen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7.8 MB</a:t>
                      </a:r>
                      <a:endParaRPr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~2 KB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Att klona repot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Laddar ner 7.8 MB</a:t>
                      </a:r>
                      <a:endParaRPr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Laddar ner ~2 KB + modellen vid behov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GitHub-gräns</a:t>
                      </a:r>
                      <a:endParaRPr sz="2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Max 100 MB per fil</a:t>
                      </a:r>
                      <a:endParaRPr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Inga problem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27" name="Google Shape;1527;p129" descr="A screen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1398" y="0"/>
            <a:ext cx="298060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Steg 14.4: Kör setup-skriptet .\setup_github.ps1. </a:t>
            </a:r>
            <a:r>
              <a:rPr lang="sv-SE" b="1" i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Skriptet frågar dig om:</a:t>
            </a:r>
            <a:endParaRPr/>
          </a:p>
        </p:txBody>
      </p:sp>
      <p:graphicFrame>
        <p:nvGraphicFramePr>
          <p:cNvPr id="1533" name="Google Shape;1533;p130"/>
          <p:cNvGraphicFramePr/>
          <p:nvPr/>
        </p:nvGraphicFramePr>
        <p:xfrm>
          <a:off x="406399" y="182562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Fråga</a:t>
                      </a:r>
                      <a:endParaRPr sz="32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Vad du ska svara</a:t>
                      </a:r>
                      <a:endParaRPr sz="32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Ange ditt GitHub-användarnamn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Ditt användarnamn (t.ex. Ars1222022)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Välj branch-namn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1 för main, 2 för master (välj 2 om du är osäker)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Vill du rensa och börja om?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j (ja) om du vill börja fräscht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Vill du ersätta .gitignore?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j (ja)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Har du installerat Git LFS?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j (ja) om du redan gjort det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31"/>
          <p:cNvSpPr txBox="1">
            <a:spLocks noGrp="1"/>
          </p:cNvSpPr>
          <p:nvPr>
            <p:ph type="title"/>
          </p:nvPr>
        </p:nvSpPr>
        <p:spPr>
          <a:xfrm>
            <a:off x="595087" y="0"/>
            <a:ext cx="11596913" cy="636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sz="3600" b="1" dirty="0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Förklaring av setup_github.ps1 (vad koden gör)</a:t>
            </a:r>
            <a:endParaRPr sz="3600" dirty="0"/>
          </a:p>
        </p:txBody>
      </p:sp>
      <p:graphicFrame>
        <p:nvGraphicFramePr>
          <p:cNvPr id="1539" name="Google Shape;1539;p131"/>
          <p:cNvGraphicFramePr/>
          <p:nvPr>
            <p:extLst>
              <p:ext uri="{D42A27DB-BD31-4B8C-83A1-F6EECF244321}">
                <p14:modId xmlns:p14="http://schemas.microsoft.com/office/powerpoint/2010/main" val="784579041"/>
              </p:ext>
            </p:extLst>
          </p:nvPr>
        </p:nvGraphicFramePr>
        <p:xfrm>
          <a:off x="0" y="909280"/>
          <a:ext cx="12192000" cy="503944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182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i skriptet</a:t>
                      </a:r>
                      <a:endParaRPr sz="2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Vad den gör</a:t>
                      </a:r>
                      <a:endParaRPr sz="1200" dirty="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Varför?</a:t>
                      </a:r>
                      <a:endParaRPr sz="1200"/>
                    </a:p>
                  </a:txBody>
                  <a:tcPr marL="152400" marR="1524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1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Förklarar vad Git LFS är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Så att du förstår varför det behövs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2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Frågar efter GitHub-användarnamn och branch</a:t>
                      </a:r>
                      <a:endParaRPr sz="1200" dirty="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Kopplar till rätt konto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3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Initierar Git (git init)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Skapar ett Git-repository lokalt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4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Skapar .gitignore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Ignorerar hemligheter och temporära filer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5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Installerar/konfigurerar Git LFS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Hanterar stora .pkl-filer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6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Rensar onödiga filer (manifest.mf)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Tar bort onödiga filer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7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Lägger till alla filer (git add .)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Förbereder filerna för commit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8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Skapar commit (git commit)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Sparar en version lokalt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9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Pushar till GitHub (git push)</a:t>
                      </a:r>
                      <a:endParaRPr sz="120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Laddar upp till molnet</a:t>
                      </a:r>
                      <a:endParaRPr sz="1200"/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 10</a:t>
                      </a:r>
                      <a:endParaRPr sz="20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Visar sammanfattning</a:t>
                      </a:r>
                      <a:endParaRPr sz="1200" dirty="0"/>
                    </a:p>
                  </a:txBody>
                  <a:tcPr marL="152400" marR="15240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 b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Bekräftar vad som gjorts</a:t>
                      </a:r>
                      <a:endParaRPr sz="20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9145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Checklista – Steg 14 är klart när:</a:t>
            </a:r>
            <a:endParaRPr/>
          </a:p>
        </p:txBody>
      </p:sp>
      <p:graphicFrame>
        <p:nvGraphicFramePr>
          <p:cNvPr id="1545" name="Google Shape;1545;p132"/>
          <p:cNvGraphicFramePr/>
          <p:nvPr/>
        </p:nvGraphicFramePr>
        <p:xfrm>
          <a:off x="0" y="1825625"/>
          <a:ext cx="12192000" cy="530352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863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</a:t>
                      </a:r>
                      <a:endParaRPr sz="32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✅ Klart?</a:t>
                      </a:r>
                      <a:endParaRPr/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skapat GitHub-konto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skapat repository insider-threat-detection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tagit bort API-nycklar från notebooks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har kört .\setup_github.ps1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ser ✅ Push lyckades!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Du kan se alla filer på GitHub-webbplatsen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Länken fungerar: github.com/DITT_ANVÄNDARNAMN/insider-threat-detection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☐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Pro tips</a:t>
            </a:r>
            <a:endParaRPr/>
          </a:p>
        </p:txBody>
      </p:sp>
      <p:graphicFrame>
        <p:nvGraphicFramePr>
          <p:cNvPr id="1551" name="Google Shape;1551;p133"/>
          <p:cNvGraphicFramePr/>
          <p:nvPr/>
        </p:nvGraphicFramePr>
        <p:xfrm>
          <a:off x="159657" y="182562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{0F4F30DF-796E-4B71-B604-BF9DE2107E0F}</a:tableStyleId>
              </a:tblPr>
              <a:tblGrid>
                <a:gridCol w="38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Tips</a:t>
                      </a:r>
                      <a:endParaRPr/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3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Förklaring</a:t>
                      </a:r>
                      <a:endParaRPr sz="32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Använd getpass() i framtiden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 = getpass("Ange lösenord: ") sparar INTE lösenordet i filen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Kör skriptet flera gånger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Det skapar inga dubbletter – bara lägger till ändringar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Kontrollera GitHub efter push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Gå till din repo-länk och se att alla filer finns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4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Dela länken</a:t>
                      </a:r>
                      <a:endParaRPr sz="24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4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github.com/DITT_ANVÄNDARNAMN/insider-threat-detection – lägg i ditt CV!</a:t>
                      </a:r>
                      <a:endParaRPr/>
                    </a:p>
                  </a:txBody>
                  <a:tcPr marL="152400" marR="914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34"/>
          <p:cNvSpPr txBox="1">
            <a:spLocks noGrp="1"/>
          </p:cNvSpPr>
          <p:nvPr>
            <p:ph type="title"/>
          </p:nvPr>
        </p:nvSpPr>
        <p:spPr>
          <a:xfrm>
            <a:off x="0" y="2383971"/>
            <a:ext cx="8752114" cy="2090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4400"/>
              <a:buFont typeface="Arial"/>
              <a:buNone/>
            </a:pPr>
            <a:r>
              <a:rPr lang="sv-SE" b="1">
                <a:solidFill>
                  <a:srgbClr val="0F1115"/>
                </a:solidFill>
                <a:latin typeface="Arial"/>
                <a:ea typeface="Arial"/>
                <a:cs typeface="Arial"/>
                <a:sym typeface="Arial"/>
              </a:rPr>
              <a:t>Steg 14 är klart – projektet är KLART!</a:t>
            </a:r>
            <a:endParaRPr/>
          </a:p>
        </p:txBody>
      </p:sp>
      <p:pic>
        <p:nvPicPr>
          <p:cNvPr id="1557" name="Google Shape;1557;p134" descr="A screenshot of a computer screen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868229" y="10954"/>
            <a:ext cx="2699657" cy="6847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13439</Words>
  <Application>Microsoft Office PowerPoint</Application>
  <PresentationFormat>Широкоэкранный</PresentationFormat>
  <Paragraphs>2408</Paragraphs>
  <Slides>134</Slides>
  <Notes>134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134</vt:i4>
      </vt:variant>
    </vt:vector>
  </HeadingPairs>
  <TitlesOfParts>
    <vt:vector size="139" baseType="lpstr">
      <vt:lpstr>Arial</vt:lpstr>
      <vt:lpstr>Consolas</vt:lpstr>
      <vt:lpstr>Play</vt:lpstr>
      <vt:lpstr>Calibri</vt:lpstr>
      <vt:lpstr>Office-tema</vt:lpstr>
      <vt:lpstr>Insider Threat Detection</vt:lpstr>
      <vt:lpstr>Steg-för-steg-plan: Insider Threat Detection</vt:lpstr>
      <vt:lpstr>Презентация PowerPoint</vt:lpstr>
      <vt:lpstr>Bakgrund: Varför denna arkitektur (dbt → Snowflake → Databricks)?</vt:lpstr>
      <vt:lpstr>Varför inte bara ladda CSV direkt i Databricks?</vt:lpstr>
      <vt:lpstr>Enkelt exempel från verkligheten:</vt:lpstr>
      <vt:lpstr>Databricks vs Jupyter vs Google Colab</vt:lpstr>
      <vt:lpstr>Verkligt exempel:</vt:lpstr>
      <vt:lpstr>Varför produktion använder dbt + Snowflake + Databricks</vt:lpstr>
      <vt:lpstr>Sammanfattning med en pizzabakelse:</vt:lpstr>
      <vt:lpstr>Verktyg du behöver (alla gratis)</vt:lpstr>
      <vt:lpstr>Steg 1:  Skapa Snowflake Trial-konto (Steg-för-steg)</vt:lpstr>
      <vt:lpstr>De viktigaste delarna för DIG (resten kan du ignorera för nu)</vt:lpstr>
      <vt:lpstr>Checklista innan Steg 2.  Mål: Verifiera att Snowflake-kontot är korrekt inställt och redo för nästa steg (Databricks + dbt + ML)</vt:lpstr>
      <vt:lpstr>Quick actions – Vad du ska göra VARJE GÅNG du arbetar</vt:lpstr>
      <vt:lpstr>Pro tips</vt:lpstr>
      <vt:lpstr>Steg 2: Skapa Databricks Community Edition-konto. Databricks Community Edition är helt gratis, kräver inget betalkort, och är permanent (ingen 30-dagarsgräns som Snowflake)</vt:lpstr>
      <vt:lpstr>Vanliga fallgropar – och hur du undviker dem</vt:lpstr>
      <vt:lpstr>Frågor från registrering</vt:lpstr>
      <vt:lpstr>Varför Community Edition (och inte 14-dagars trial)?</vt:lpstr>
      <vt:lpstr>De viktigaste delarna för DIG (resten kan du ignorera för nu)</vt:lpstr>
      <vt:lpstr>Steg 3. Ladda ned Medical Internal Attack Detection Dataset: https://www.kaggle.com/datasets/zara2099/medical-internal-attack-detection-dataset?resource=download </vt:lpstr>
      <vt:lpstr>Skapa Kaggle-konto (om du inte redan har ett)</vt:lpstr>
      <vt:lpstr>Ladda ner datasetet</vt:lpstr>
      <vt:lpstr>Vanliga frågor</vt:lpstr>
      <vt:lpstr>Steg 4: Ladda upp data till Snowflake</vt:lpstr>
      <vt:lpstr>Ladda upp data till Snowflake</vt:lpstr>
      <vt:lpstr>Pro tips</vt:lpstr>
      <vt:lpstr>Steg 4 är klart</vt:lpstr>
      <vt:lpstr>Så här stänger du av Compute-motorn (sparar dina krediter).  Din Compute-motor kostar krediter när den är igång. När du är klar för dagen pausar du den – då kostar den ingenting. Din data och databas sparas automatiskt.</vt:lpstr>
      <vt:lpstr>Så här ser det ut före och efter:</vt:lpstr>
      <vt:lpstr>Viktigt att veta</vt:lpstr>
      <vt:lpstr>Steg 5: Skapa dbt-projekt</vt:lpstr>
      <vt:lpstr>Steg 5: Skapa dbt-projekt</vt:lpstr>
      <vt:lpstr>Презентация PowerPoint</vt:lpstr>
      <vt:lpstr>Vad gör du i Steg 5?</vt:lpstr>
      <vt:lpstr>Презентация PowerPoint</vt:lpstr>
      <vt:lpstr>Презентация PowerPoint</vt:lpstr>
      <vt:lpstr>Checklista – Steg 5 är klart när:</vt:lpstr>
      <vt:lpstr>Så här ser det ut i dbt Cloud IDE:</vt:lpstr>
      <vt:lpstr>Pro tips</vt:lpstr>
      <vt:lpstr>dbt är HELT gratis för dig – du behöver INTE göra något när trial-perioden tar slut</vt:lpstr>
      <vt:lpstr>Skillnad mellan planerna (för dig som ensam användare):</vt:lpstr>
      <vt:lpstr>Vanliga  frågor</vt:lpstr>
      <vt:lpstr>Sammanfattning – så här är det med alla dina verktyg:</vt:lpstr>
      <vt:lpstr>När Steg 5 är klart</vt:lpstr>
      <vt:lpstr>Steg 6: Skapa dbt-modeller för feature engineering</vt:lpstr>
      <vt:lpstr>Vilka modeller ska du skapa?</vt:lpstr>
      <vt:lpstr>Varför bara EN staging-modell?</vt:lpstr>
      <vt:lpstr>Mappstruktur efter Steg 6</vt:lpstr>
      <vt:lpstr>Steg 6: Komplett tabell</vt:lpstr>
      <vt:lpstr>Fil 1: models/sources.yml</vt:lpstr>
      <vt:lpstr>Fil 2: models/staging/stg_raw_logs.sql</vt:lpstr>
      <vt:lpstr>Fil 3: models/fct_features.sql</vt:lpstr>
      <vt:lpstr>Checklista – Steg 6 är klart när:</vt:lpstr>
      <vt:lpstr>Pro tips</vt:lpstr>
      <vt:lpstr>Vanliga frågor</vt:lpstr>
      <vt:lpstr>När Steg 6 är klart – gå vidare till Steg 7</vt:lpstr>
      <vt:lpstr>Steg 7: Kör dbt-transformationer</vt:lpstr>
      <vt:lpstr>Steg 7: Komplett tabell</vt:lpstr>
      <vt:lpstr>Kommandon du kommer att använda</vt:lpstr>
      <vt:lpstr>Så här ser det ut i kommandoraden  (exempel på utskrift)</vt:lpstr>
      <vt:lpstr>Vad betyder utskriften?</vt:lpstr>
      <vt:lpstr>Kontrollera i Snowflake (valfritt steg 7.6)</vt:lpstr>
      <vt:lpstr>Förväntade resultat i Snowflake:</vt:lpstr>
      <vt:lpstr>Checklista – Steg 7 är klart när:</vt:lpstr>
      <vt:lpstr>Vanliga fel och lösningar</vt:lpstr>
      <vt:lpstr>Pro tips</vt:lpstr>
      <vt:lpstr>Vad händer i Snowflake efter dbt run?</vt:lpstr>
      <vt:lpstr>Vanliga frågor</vt:lpstr>
      <vt:lpstr>Din väg framåt</vt:lpstr>
      <vt:lpstr>Steg 8: Anslut Databricks till Snowflake</vt:lpstr>
      <vt:lpstr>Steg 8: Komplett tabell  (EN cell)</vt:lpstr>
      <vt:lpstr>Steg 9: Importera MLflow i Databricks</vt:lpstr>
      <vt:lpstr>Varför MLflow används i professionell produktion</vt:lpstr>
      <vt:lpstr>Verkliga exempel från företag</vt:lpstr>
      <vt:lpstr>Steg 9: Komplett tabell (EN cell)</vt:lpstr>
      <vt:lpstr>Verkligt scenario: Ett ML-team på 5 personer</vt:lpstr>
      <vt:lpstr>Utan vs Med MLflow</vt:lpstr>
      <vt:lpstr>Utan vs Med MLflow</vt:lpstr>
      <vt:lpstr>MLflow-arkitektur i produktion</vt:lpstr>
      <vt:lpstr>Varför just MLflow (och inte annat)?</vt:lpstr>
      <vt:lpstr>Steg 10: Bygg ML-modell (Random Forest)</vt:lpstr>
      <vt:lpstr>Steg 10: Översikt</vt:lpstr>
      <vt:lpstr>Isolation Forest vs Random Forest</vt:lpstr>
      <vt:lpstr>Confusion Matrix (förklaras)</vt:lpstr>
      <vt:lpstr>Viktigaste features  (vad modellen lär sig)</vt:lpstr>
      <vt:lpstr>Slutgiltiga resultat</vt:lpstr>
      <vt:lpstr>Vad är detta multi-agent tillägg?</vt:lpstr>
      <vt:lpstr>Utan LLM vs Med LLM (multi-agent)</vt:lpstr>
      <vt:lpstr>Vad varje agent gör (och varför)</vt:lpstr>
      <vt:lpstr>Resultat från DIN körning (steg för steg)</vt:lpstr>
      <vt:lpstr>Mono-agent vs Multi-agent (viktig skillnad)</vt:lpstr>
      <vt:lpstr>Varför LLM blir allt mer populärt (i produktion)</vt:lpstr>
      <vt:lpstr>FAQ: Vanliga frågor och svar </vt:lpstr>
      <vt:lpstr>Steg 11: MLflow – Ladda och använd sparad modell</vt:lpstr>
      <vt:lpstr>Steg 11: Komplett tabell</vt:lpstr>
      <vt:lpstr>Varje student får ett unikt Run ID</vt:lpstr>
      <vt:lpstr>Var hittar du Run ID?</vt:lpstr>
      <vt:lpstr>Varför MLflow behövs</vt:lpstr>
      <vt:lpstr>Dina testresultat (vad modellen lärde sig)</vt:lpstr>
      <vt:lpstr>Dina testresultat (vad modellen lärde sig)</vt:lpstr>
      <vt:lpstr>Så här skulle detta användas i riktig produktion</vt:lpstr>
      <vt:lpstr>Varför MLflow är industri-standard</vt:lpstr>
      <vt:lpstr>Steg 11.4: A/B-Testning – Jämför modellversioner</vt:lpstr>
      <vt:lpstr>Steg 11.4: Komplett tabell</vt:lpstr>
      <vt:lpstr>Resultat från din A/B-testning. Offline-jämförelse (testdata)</vt:lpstr>
      <vt:lpstr>Slutsats och rekommendation</vt:lpstr>
      <vt:lpstr>Varför A/B-testning är viktigt i produktion</vt:lpstr>
      <vt:lpstr>Steg 12: Automatisering med Slack-rapporter &amp; LLM-analys</vt:lpstr>
      <vt:lpstr>Verkliga exempel från arbetsmarknaden</vt:lpstr>
      <vt:lpstr>Slack vs Teams – för professionell användning</vt:lpstr>
      <vt:lpstr>Så här skapar du en Slack Webhook (steg-för-steg)</vt:lpstr>
      <vt:lpstr>Steg 12: Komplett tabell</vt:lpstr>
      <vt:lpstr>Hur detta används i verklig produktion</vt:lpstr>
      <vt:lpstr>Checklista – Steg 12 är klart när:</vt:lpstr>
      <vt:lpstr>Steg 13: Bygg enkel dashboard i Databricks</vt:lpstr>
      <vt:lpstr>Steg 13: Komplett tabell</vt:lpstr>
      <vt:lpstr>Resultat från din körning.  Resultat från din körning</vt:lpstr>
      <vt:lpstr>Din dashboard kommer att innehålla:</vt:lpstr>
      <vt:lpstr>Pro tips</vt:lpstr>
      <vt:lpstr>Checklista – Steg 13 är klart när:</vt:lpstr>
      <vt:lpstr>Steg 14: Ladda upp projekt till GitHub</vt:lpstr>
      <vt:lpstr>Verkliga exempel från arbetsmarknaden</vt:lpstr>
      <vt:lpstr>Steg 14: Komplett tabell</vt:lpstr>
      <vt:lpstr>Steg 14.1: Skapa GitHub-konto  (om du inte har)</vt:lpstr>
      <vt:lpstr>Steg 14.2: Skapa nytt repository på GitHub</vt:lpstr>
      <vt:lpstr>Git LFS vs Vanlig Git – Varför behövs det?</vt:lpstr>
      <vt:lpstr>Презентация PowerPoint</vt:lpstr>
      <vt:lpstr>Steg 14.4: Kör setup-skriptet .\setup_github.ps1. Skriptet frågar dig om:</vt:lpstr>
      <vt:lpstr>Förklaring av setup_github.ps1 (vad koden gör)</vt:lpstr>
      <vt:lpstr>Checklista – Steg 14 är klart när:</vt:lpstr>
      <vt:lpstr>Pro tips</vt:lpstr>
      <vt:lpstr>Steg 14 är klart – projektet är KLART!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Buzyansen Arn</cp:lastModifiedBy>
  <cp:revision>1</cp:revision>
  <dcterms:created xsi:type="dcterms:W3CDTF">2026-04-19T13:21:50Z</dcterms:created>
  <dcterms:modified xsi:type="dcterms:W3CDTF">2026-06-09T14:05:37Z</dcterms:modified>
</cp:coreProperties>
</file>